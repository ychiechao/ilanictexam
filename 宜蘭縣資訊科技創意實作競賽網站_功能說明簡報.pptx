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 type="wide"/>
  <p:notesSz cx="6858000" cy="9144000"/>
  <p:defaultTextStyle>
    <a:defPPr>
      <a:defRPr lang="zh-TW">
        <a:latin typeface="Microsoft JhengHei"/>
        <a:ea typeface="Microsoft JhengHei"/>
      </a:defRPr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2"/>
          </a:solidFill>
          <a:ln>
            <a:noFill/>
          </a:ln>
        </p:spPr>
      </p:sp>
      <p:sp>
        <p:nvSpPr>
          <p:cNvPr id="3" name="glow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5" name="orb1"/>
          <p:cNvSpPr/>
          <p:nvPr/>
        </p:nvSpPr>
        <p:spPr>
          <a:xfrm>
            <a:off x="9784080" y="-228600"/>
            <a:ext cx="2103120" cy="2103120"/>
          </a:xfrm>
          <a:prstGeom prst="ellipse">
            <a:avLst/>
          </a:prstGeom>
          <a:solidFill>
            <a:srgbClr val="38D5FF">
              <a:alpha val="16000"/>
            </a:srgbClr>
          </a:solidFill>
          <a:ln>
            <a:noFill/>
          </a:ln>
        </p:spPr>
      </p:sp>
      <p:sp>
        <p:nvSpPr>
          <p:cNvPr id="6" name="orb2"/>
          <p:cNvSpPr/>
          <p:nvPr/>
        </p:nvSpPr>
        <p:spPr>
          <a:xfrm>
            <a:off x="10607040" y="5257800"/>
            <a:ext cx="1280160" cy="1280160"/>
          </a:xfrm>
          <a:prstGeom prst="ellipse">
            <a:avLst/>
          </a:prstGeom>
          <a:solidFill>
            <a:srgbClr val="A78BFA">
              <a:alpha val="18000"/>
            </a:srgbClr>
          </a:solidFill>
          <a:ln>
            <a:noFill/>
          </a:ln>
        </p:spPr>
      </p:sp>
      <p:sp>
        <p:nvSpPr>
          <p:cNvPr id="7" name="text"/>
          <p:cNvSpPr/>
          <p:nvPr/>
        </p:nvSpPr>
        <p:spPr>
          <a:xfrm>
            <a:off x="621792" y="658368"/>
            <a:ext cx="969264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1300" b="1" dirty="0">
                <a:solidFill>
                  <a:srgbClr val="38D5FF"/>
                </a:solidFill>
                <a:latin typeface="Microsoft JhengHei"/>
                <a:ea typeface="Microsoft JhengHei"/>
                <a:cs typeface="Microsoft JhengHei"/>
              </a:rPr>
              <a:t>宜蘭縣資訊科技創意實作競賽網站</a:t>
            </a:r>
            <a:endParaRPr lang="zh-TW" sz="1300">
              <a:latin typeface="Microsoft JhengHei"/>
              <a:ea typeface="Microsoft JhengHei"/>
            </a:endParaRPr>
          </a:p>
        </p:txBody>
      </p:sp>
      <p:sp>
        <p:nvSpPr>
          <p:cNvPr id="8" name="text"/>
          <p:cNvSpPr/>
          <p:nvPr/>
        </p:nvSpPr>
        <p:spPr>
          <a:xfrm>
            <a:off x="603504" y="1225296"/>
            <a:ext cx="9875520" cy="86868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430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功能說明簡報</a:t>
            </a:r>
            <a:endParaRPr lang="zh-TW" sz="4300">
              <a:latin typeface="Microsoft JhengHei"/>
              <a:ea typeface="Microsoft JhengHei"/>
            </a:endParaRPr>
          </a:p>
        </p:txBody>
      </p:sp>
      <p:sp>
        <p:nvSpPr>
          <p:cNvPr id="9" name="text"/>
          <p:cNvSpPr/>
          <p:nvPr/>
        </p:nvSpPr>
        <p:spPr>
          <a:xfrm>
            <a:off x="658368" y="2121408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145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現況功能盤點｜尚未實作延伸設計｜競賽平台化建議</a:t>
            </a:r>
            <a:endParaRPr lang="zh-TW" sz="1450">
              <a:latin typeface="Microsoft JhengHei"/>
              <a:ea typeface="Microsoft JhengHei"/>
            </a:endParaRPr>
          </a:p>
        </p:txBody>
      </p:sp>
      <p:sp>
        <p:nvSpPr>
          <p:cNvPr id="10" name="rule"/>
          <p:cNvSpPr/>
          <p:nvPr/>
        </p:nvSpPr>
        <p:spPr>
          <a:xfrm>
            <a:off x="658368" y="2706624"/>
            <a:ext cx="5120640" cy="27432"/>
          </a:xfrm>
          <a:prstGeom prst="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11" name="card"/>
          <p:cNvSpPr/>
          <p:nvPr/>
        </p:nvSpPr>
        <p:spPr>
          <a:xfrm>
            <a:off x="685800" y="3246120"/>
            <a:ext cx="3246120" cy="141732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2" name="card-accent"/>
          <p:cNvSpPr/>
          <p:nvPr/>
        </p:nvSpPr>
        <p:spPr>
          <a:xfrm>
            <a:off x="685800" y="3246120"/>
            <a:ext cx="73152" cy="1417320"/>
          </a:xfrm>
          <a:prstGeom prst="round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13" name="card-text"/>
          <p:cNvSpPr/>
          <p:nvPr/>
        </p:nvSpPr>
        <p:spPr>
          <a:xfrm>
            <a:off x="813816" y="3300984"/>
            <a:ext cx="3044952" cy="132588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目前定位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練習型評分 MVP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題庫、積木編輯、計分、排行榜、後台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4" name="card"/>
          <p:cNvSpPr/>
          <p:nvPr/>
        </p:nvSpPr>
        <p:spPr>
          <a:xfrm>
            <a:off x="4160520" y="3246120"/>
            <a:ext cx="3246120" cy="141732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5" name="card-accent"/>
          <p:cNvSpPr/>
          <p:nvPr/>
        </p:nvSpPr>
        <p:spPr>
          <a:xfrm>
            <a:off x="4160520" y="3246120"/>
            <a:ext cx="73152" cy="1417320"/>
          </a:xfrm>
          <a:prstGeom prst="roundRect">
            <a:avLst/>
          </a:prstGeom>
          <a:solidFill>
            <a:srgbClr val="3DDC97"/>
          </a:solidFill>
          <a:ln>
            <a:noFill/>
          </a:ln>
        </p:spPr>
      </p:sp>
      <p:sp>
        <p:nvSpPr>
          <p:cNvPr id="16" name="card-text"/>
          <p:cNvSpPr/>
          <p:nvPr/>
        </p:nvSpPr>
        <p:spPr>
          <a:xfrm>
            <a:off x="4288536" y="3300984"/>
            <a:ext cx="3044952" cy="132588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延伸方向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年度賽事流程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練習／競賽／管理分流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7" name="card"/>
          <p:cNvSpPr/>
          <p:nvPr/>
        </p:nvSpPr>
        <p:spPr>
          <a:xfrm>
            <a:off x="7635240" y="3246120"/>
            <a:ext cx="3246120" cy="141732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8" name="card-accent"/>
          <p:cNvSpPr/>
          <p:nvPr/>
        </p:nvSpPr>
        <p:spPr>
          <a:xfrm>
            <a:off x="7635240" y="3246120"/>
            <a:ext cx="73152" cy="141732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19" name="card-text"/>
          <p:cNvSpPr/>
          <p:nvPr/>
        </p:nvSpPr>
        <p:spPr>
          <a:xfrm>
            <a:off x="7763256" y="3300984"/>
            <a:ext cx="3044952" cy="132588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設計重點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清楚、專業、科技感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現況與規劃分層呈現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20" name="text"/>
          <p:cNvSpPr/>
          <p:nvPr/>
        </p:nvSpPr>
        <p:spPr>
          <a:xfrm>
            <a:off x="694944" y="6053328"/>
            <a:ext cx="585216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900" dirty="0">
                <a:solidFill>
                  <a:srgbClr val="8FA8C6"/>
                </a:solidFill>
                <a:latin typeface="Microsoft JhengHei"/>
                <a:ea typeface="Microsoft JhengHei"/>
                <a:cs typeface="Microsoft JhengHei"/>
              </a:rPr>
              <a:t>版本：2026.06｜依目前網站程式與討論方向整理</a:t>
            </a:r>
            <a:endParaRPr lang="zh-TW" sz="900">
              <a:latin typeface="Microsoft JhengHei"/>
              <a:ea typeface="Microsoft Jheng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2"/>
          </a:solidFill>
          <a:ln>
            <a:noFill/>
          </a:ln>
        </p:spPr>
      </p:sp>
      <p:sp>
        <p:nvSpPr>
          <p:cNvPr id="3" name="glow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5" name="orb1"/>
          <p:cNvSpPr/>
          <p:nvPr/>
        </p:nvSpPr>
        <p:spPr>
          <a:xfrm>
            <a:off x="9784080" y="-228600"/>
            <a:ext cx="2103120" cy="2103120"/>
          </a:xfrm>
          <a:prstGeom prst="ellipse">
            <a:avLst/>
          </a:prstGeom>
          <a:solidFill>
            <a:srgbClr val="38D5FF">
              <a:alpha val="16000"/>
            </a:srgbClr>
          </a:solidFill>
          <a:ln>
            <a:noFill/>
          </a:ln>
        </p:spPr>
      </p:sp>
      <p:sp>
        <p:nvSpPr>
          <p:cNvPr id="6" name="orb2"/>
          <p:cNvSpPr/>
          <p:nvPr/>
        </p:nvSpPr>
        <p:spPr>
          <a:xfrm>
            <a:off x="10607040" y="5257800"/>
            <a:ext cx="1280160" cy="1280160"/>
          </a:xfrm>
          <a:prstGeom prst="ellipse">
            <a:avLst/>
          </a:prstGeom>
          <a:solidFill>
            <a:srgbClr val="A78BFA">
              <a:alpha val="18000"/>
            </a:srgbClr>
          </a:solidFill>
          <a:ln>
            <a:noFill/>
          </a:ln>
        </p:spPr>
      </p:sp>
      <p:sp>
        <p:nvSpPr>
          <p:cNvPr id="7" name="text"/>
          <p:cNvSpPr/>
          <p:nvPr/>
        </p:nvSpPr>
        <p:spPr>
          <a:xfrm>
            <a:off x="502920" y="22860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950" b="1" dirty="0">
                <a:solidFill>
                  <a:srgbClr val="38D5FF"/>
                </a:solidFill>
                <a:latin typeface="Microsoft JhengHei"/>
                <a:ea typeface="Microsoft JhengHei"/>
                <a:cs typeface="Microsoft JhengHei"/>
              </a:rPr>
              <a:t>簡報導覽</a:t>
            </a:r>
            <a:endParaRPr lang="zh-TW" sz="950">
              <a:latin typeface="Microsoft JhengHei"/>
              <a:ea typeface="Microsoft JhengHei"/>
            </a:endParaRPr>
          </a:p>
        </p:txBody>
      </p:sp>
      <p:sp>
        <p:nvSpPr>
          <p:cNvPr id="8" name="text"/>
          <p:cNvSpPr/>
          <p:nvPr/>
        </p:nvSpPr>
        <p:spPr>
          <a:xfrm>
            <a:off x="502920" y="466344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230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這份簡報的讀法</a:t>
            </a:r>
            <a:endParaRPr lang="zh-TW" sz="2300">
              <a:latin typeface="Microsoft JhengHei"/>
              <a:ea typeface="Microsoft JhengHei"/>
            </a:endParaRPr>
          </a:p>
        </p:txBody>
      </p:sp>
      <p:sp>
        <p:nvSpPr>
          <p:cNvPr id="9" name="text"/>
          <p:cNvSpPr/>
          <p:nvPr/>
        </p:nvSpPr>
        <p:spPr>
          <a:xfrm>
            <a:off x="530352" y="93268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105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前半盤點目前已完成的網站功能；後半標註尚未實作的延伸設計。</a:t>
            </a:r>
            <a:endParaRPr lang="zh-TW" sz="1050">
              <a:latin typeface="Microsoft JhengHei"/>
              <a:ea typeface="Microsoft JhengHei"/>
            </a:endParaRPr>
          </a:p>
        </p:txBody>
      </p:sp>
      <p:sp>
        <p:nvSpPr>
          <p:cNvPr id="10" name="rule"/>
          <p:cNvSpPr/>
          <p:nvPr/>
        </p:nvSpPr>
        <p:spPr>
          <a:xfrm>
            <a:off x="502920" y="1225296"/>
            <a:ext cx="10881360" cy="18288"/>
          </a:xfrm>
          <a:prstGeom prst="rect">
            <a:avLst/>
          </a:prstGeom>
          <a:solidFill>
            <a:srgbClr val="38D5FF">
              <a:alpha val="60000"/>
            </a:srgbClr>
          </a:solidFill>
          <a:ln>
            <a:noFill/>
          </a:ln>
        </p:spPr>
      </p:sp>
      <p:sp>
        <p:nvSpPr>
          <p:cNvPr id="11" name="card"/>
          <p:cNvSpPr/>
          <p:nvPr/>
        </p:nvSpPr>
        <p:spPr>
          <a:xfrm>
            <a:off x="68580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2" name="card-accent"/>
          <p:cNvSpPr/>
          <p:nvPr/>
        </p:nvSpPr>
        <p:spPr>
          <a:xfrm>
            <a:off x="685800" y="1417320"/>
            <a:ext cx="73152" cy="1691640"/>
          </a:xfrm>
          <a:prstGeom prst="round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13" name="card-text"/>
          <p:cNvSpPr/>
          <p:nvPr/>
        </p:nvSpPr>
        <p:spPr>
          <a:xfrm>
            <a:off x="81381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01 現況功能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已在目前網站中可見或由現有服務支援的功能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4" name="card"/>
          <p:cNvSpPr/>
          <p:nvPr/>
        </p:nvSpPr>
        <p:spPr>
          <a:xfrm>
            <a:off x="425196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5" name="card-accent"/>
          <p:cNvSpPr/>
          <p:nvPr/>
        </p:nvSpPr>
        <p:spPr>
          <a:xfrm>
            <a:off x="4251960" y="1417320"/>
            <a:ext cx="73152" cy="16916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6" name="card-text"/>
          <p:cNvSpPr/>
          <p:nvPr/>
        </p:nvSpPr>
        <p:spPr>
          <a:xfrm>
            <a:off x="437997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02 現況限制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說明練習型 MVP 與正式賽的差距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7" name="card"/>
          <p:cNvSpPr/>
          <p:nvPr/>
        </p:nvSpPr>
        <p:spPr>
          <a:xfrm>
            <a:off x="781812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8" name="card-accent"/>
          <p:cNvSpPr/>
          <p:nvPr/>
        </p:nvSpPr>
        <p:spPr>
          <a:xfrm>
            <a:off x="7818120" y="1417320"/>
            <a:ext cx="73152" cy="1691640"/>
          </a:xfrm>
          <a:prstGeom prst="roundRect">
            <a:avLst/>
          </a:prstGeom>
          <a:solidFill>
            <a:srgbClr val="3DDC97"/>
          </a:solidFill>
          <a:ln>
            <a:noFill/>
          </a:ln>
        </p:spPr>
      </p:sp>
      <p:sp>
        <p:nvSpPr>
          <p:cNvPr id="19" name="card-text"/>
          <p:cNvSpPr/>
          <p:nvPr/>
        </p:nvSpPr>
        <p:spPr>
          <a:xfrm>
            <a:off x="794613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03 延伸設計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年度賽事、角色、儀表板、PK 與徽章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20" name="card"/>
          <p:cNvSpPr/>
          <p:nvPr/>
        </p:nvSpPr>
        <p:spPr>
          <a:xfrm>
            <a:off x="960120" y="4892040"/>
            <a:ext cx="10149840" cy="749808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21" name="card-accent"/>
          <p:cNvSpPr/>
          <p:nvPr/>
        </p:nvSpPr>
        <p:spPr>
          <a:xfrm>
            <a:off x="960120" y="4892040"/>
            <a:ext cx="73152" cy="749808"/>
          </a:xfrm>
          <a:prstGeom prst="round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22" name="card-text"/>
          <p:cNvSpPr/>
          <p:nvPr/>
        </p:nvSpPr>
        <p:spPr>
          <a:xfrm>
            <a:off x="1088136" y="4946904"/>
            <a:ext cx="9948672" cy="65836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重點提醒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對外說明時建議分成『已完成』與『規劃中』兩層，避免聽眾誤以為正式賽安全性已完成。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23" name="text"/>
          <p:cNvSpPr/>
          <p:nvPr/>
        </p:nvSpPr>
        <p:spPr>
          <a:xfrm>
            <a:off x="502920" y="6446520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720" dirty="0">
                <a:solidFill>
                  <a:srgbClr val="6F88A6"/>
                </a:solidFill>
                <a:latin typeface="Microsoft JhengHei"/>
                <a:ea typeface="Microsoft JhengHei"/>
                <a:cs typeface="Microsoft JhengHei"/>
              </a:rPr>
              <a:t>宜蘭縣資訊科技創意實作競賽網站功能說明</a:t>
            </a:r>
            <a:endParaRPr lang="zh-TW" sz="720">
              <a:latin typeface="Microsoft JhengHei"/>
              <a:ea typeface="Microsoft JhengHei"/>
            </a:endParaRPr>
          </a:p>
        </p:txBody>
      </p:sp>
      <p:sp>
        <p:nvSpPr>
          <p:cNvPr id="24" name="text"/>
          <p:cNvSpPr/>
          <p:nvPr/>
        </p:nvSpPr>
        <p:spPr>
          <a:xfrm>
            <a:off x="10515600" y="6446520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lang="zh-TW" sz="780" dirty="0">
                <a:solidFill>
                  <a:srgbClr val="8FA8C6"/>
                </a:solidFill>
                <a:latin typeface="Microsoft JhengHei"/>
                <a:ea typeface="Microsoft JhengHei"/>
                <a:cs typeface="Microsoft JhengHei"/>
              </a:rPr>
              <a:t>02/25</a:t>
            </a:r>
            <a:endParaRPr lang="zh-TW" sz="780">
              <a:latin typeface="Microsoft JhengHei"/>
              <a:ea typeface="Microsoft Jheng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2"/>
          </a:solidFill>
          <a:ln>
            <a:noFill/>
          </a:ln>
        </p:spPr>
      </p:sp>
      <p:sp>
        <p:nvSpPr>
          <p:cNvPr id="3" name="glow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5" name="orb1"/>
          <p:cNvSpPr/>
          <p:nvPr/>
        </p:nvSpPr>
        <p:spPr>
          <a:xfrm>
            <a:off x="9784080" y="-228600"/>
            <a:ext cx="2103120" cy="2103120"/>
          </a:xfrm>
          <a:prstGeom prst="ellipse">
            <a:avLst/>
          </a:prstGeom>
          <a:solidFill>
            <a:srgbClr val="38D5FF">
              <a:alpha val="16000"/>
            </a:srgbClr>
          </a:solidFill>
          <a:ln>
            <a:noFill/>
          </a:ln>
        </p:spPr>
      </p:sp>
      <p:sp>
        <p:nvSpPr>
          <p:cNvPr id="6" name="orb2"/>
          <p:cNvSpPr/>
          <p:nvPr/>
        </p:nvSpPr>
        <p:spPr>
          <a:xfrm>
            <a:off x="10607040" y="5257800"/>
            <a:ext cx="1280160" cy="1280160"/>
          </a:xfrm>
          <a:prstGeom prst="ellipse">
            <a:avLst/>
          </a:prstGeom>
          <a:solidFill>
            <a:srgbClr val="A78BFA">
              <a:alpha val="18000"/>
            </a:srgbClr>
          </a:solidFill>
          <a:ln>
            <a:noFill/>
          </a:ln>
        </p:spPr>
      </p:sp>
      <p:sp>
        <p:nvSpPr>
          <p:cNvPr id="7" name="text"/>
          <p:cNvSpPr/>
          <p:nvPr/>
        </p:nvSpPr>
        <p:spPr>
          <a:xfrm>
            <a:off x="502920" y="22860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950" b="1" dirty="0">
                <a:solidFill>
                  <a:srgbClr val="38D5FF"/>
                </a:solidFill>
                <a:latin typeface="Microsoft JhengHei"/>
                <a:ea typeface="Microsoft JhengHei"/>
                <a:cs typeface="Microsoft JhengHei"/>
              </a:rPr>
              <a:t>現況功能</a:t>
            </a:r>
            <a:endParaRPr lang="zh-TW" sz="950">
              <a:latin typeface="Microsoft JhengHei"/>
              <a:ea typeface="Microsoft JhengHei"/>
            </a:endParaRPr>
          </a:p>
        </p:txBody>
      </p:sp>
      <p:sp>
        <p:nvSpPr>
          <p:cNvPr id="8" name="text"/>
          <p:cNvSpPr/>
          <p:nvPr/>
        </p:nvSpPr>
        <p:spPr>
          <a:xfrm>
            <a:off x="502920" y="466344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230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目前平台定位</a:t>
            </a:r>
            <a:endParaRPr lang="zh-TW" sz="2300">
              <a:latin typeface="Microsoft JhengHei"/>
              <a:ea typeface="Microsoft JhengHei"/>
            </a:endParaRPr>
          </a:p>
        </p:txBody>
      </p:sp>
      <p:sp>
        <p:nvSpPr>
          <p:cNvPr id="9" name="text"/>
          <p:cNvSpPr/>
          <p:nvPr/>
        </p:nvSpPr>
        <p:spPr>
          <a:xfrm>
            <a:off x="530352" y="93268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105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一個以程式邏輯練習、題庫評分與進度追蹤為核心的競賽網站雛形。</a:t>
            </a:r>
            <a:endParaRPr lang="zh-TW" sz="1050">
              <a:latin typeface="Microsoft JhengHei"/>
              <a:ea typeface="Microsoft JhengHei"/>
            </a:endParaRPr>
          </a:p>
        </p:txBody>
      </p:sp>
      <p:sp>
        <p:nvSpPr>
          <p:cNvPr id="10" name="rule"/>
          <p:cNvSpPr/>
          <p:nvPr/>
        </p:nvSpPr>
        <p:spPr>
          <a:xfrm>
            <a:off x="502920" y="1225296"/>
            <a:ext cx="10881360" cy="18288"/>
          </a:xfrm>
          <a:prstGeom prst="rect">
            <a:avLst/>
          </a:prstGeom>
          <a:solidFill>
            <a:srgbClr val="38D5FF">
              <a:alpha val="60000"/>
            </a:srgbClr>
          </a:solidFill>
          <a:ln>
            <a:noFill/>
          </a:ln>
        </p:spPr>
      </p:sp>
      <p:sp>
        <p:nvSpPr>
          <p:cNvPr id="11" name="card"/>
          <p:cNvSpPr/>
          <p:nvPr/>
        </p:nvSpPr>
        <p:spPr>
          <a:xfrm>
            <a:off x="68580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2" name="card-accent"/>
          <p:cNvSpPr/>
          <p:nvPr/>
        </p:nvSpPr>
        <p:spPr>
          <a:xfrm>
            <a:off x="685800" y="1417320"/>
            <a:ext cx="73152" cy="1691640"/>
          </a:xfrm>
          <a:prstGeom prst="round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13" name="card-text"/>
          <p:cNvSpPr/>
          <p:nvPr/>
        </p:nvSpPr>
        <p:spPr>
          <a:xfrm>
            <a:off x="81381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前台作答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題目瀏覽與年度／分類篩選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Scratch／Blockly 積木程式編輯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XML 下載、上傳、重設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4" name="card"/>
          <p:cNvSpPr/>
          <p:nvPr/>
        </p:nvSpPr>
        <p:spPr>
          <a:xfrm>
            <a:off x="425196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5" name="card-accent"/>
          <p:cNvSpPr/>
          <p:nvPr/>
        </p:nvSpPr>
        <p:spPr>
          <a:xfrm>
            <a:off x="4251960" y="1417320"/>
            <a:ext cx="73152" cy="1691640"/>
          </a:xfrm>
          <a:prstGeom prst="roundRect">
            <a:avLst/>
          </a:prstGeom>
          <a:solidFill>
            <a:srgbClr val="3DDC97"/>
          </a:solidFill>
          <a:ln>
            <a:noFill/>
          </a:ln>
        </p:spPr>
      </p:sp>
      <p:sp>
        <p:nvSpPr>
          <p:cNvPr id="16" name="card-text"/>
          <p:cNvSpPr/>
          <p:nvPr/>
        </p:nvSpPr>
        <p:spPr>
          <a:xfrm>
            <a:off x="437997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即時計分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自行測試不寫入排行榜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正式計分比對測資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支援公開與隱藏測資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7" name="card"/>
          <p:cNvSpPr/>
          <p:nvPr/>
        </p:nvSpPr>
        <p:spPr>
          <a:xfrm>
            <a:off x="781812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8" name="card-accent"/>
          <p:cNvSpPr/>
          <p:nvPr/>
        </p:nvSpPr>
        <p:spPr>
          <a:xfrm>
            <a:off x="7818120" y="1417320"/>
            <a:ext cx="73152" cy="16916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9" name="card-text"/>
          <p:cNvSpPr/>
          <p:nvPr/>
        </p:nvSpPr>
        <p:spPr>
          <a:xfrm>
            <a:off x="794613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紀錄排名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個人提交紀錄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完成／練習中狀態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全站總排行榜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20" name="card"/>
          <p:cNvSpPr/>
          <p:nvPr/>
        </p:nvSpPr>
        <p:spPr>
          <a:xfrm>
            <a:off x="960120" y="4892040"/>
            <a:ext cx="10149840" cy="749808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21" name="card-accent"/>
          <p:cNvSpPr/>
          <p:nvPr/>
        </p:nvSpPr>
        <p:spPr>
          <a:xfrm>
            <a:off x="960120" y="4892040"/>
            <a:ext cx="73152" cy="749808"/>
          </a:xfrm>
          <a:prstGeom prst="round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22" name="card-text"/>
          <p:cNvSpPr/>
          <p:nvPr/>
        </p:nvSpPr>
        <p:spPr>
          <a:xfrm>
            <a:off x="1088136" y="4946904"/>
            <a:ext cx="9948672" cy="65836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重點提醒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目前可稱為『練習與題庫評分平台』，下一階段再升級成正式賽事營運系統。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23" name="text"/>
          <p:cNvSpPr/>
          <p:nvPr/>
        </p:nvSpPr>
        <p:spPr>
          <a:xfrm>
            <a:off x="502920" y="6446520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720" dirty="0">
                <a:solidFill>
                  <a:srgbClr val="6F88A6"/>
                </a:solidFill>
                <a:latin typeface="Microsoft JhengHei"/>
                <a:ea typeface="Microsoft JhengHei"/>
                <a:cs typeface="Microsoft JhengHei"/>
              </a:rPr>
              <a:t>宜蘭縣資訊科技創意實作競賽網站功能說明</a:t>
            </a:r>
            <a:endParaRPr lang="zh-TW" sz="720">
              <a:latin typeface="Microsoft JhengHei"/>
              <a:ea typeface="Microsoft JhengHei"/>
            </a:endParaRPr>
          </a:p>
        </p:txBody>
      </p:sp>
      <p:sp>
        <p:nvSpPr>
          <p:cNvPr id="24" name="text"/>
          <p:cNvSpPr/>
          <p:nvPr/>
        </p:nvSpPr>
        <p:spPr>
          <a:xfrm>
            <a:off x="10515600" y="6446520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lang="zh-TW" sz="780" dirty="0">
                <a:solidFill>
                  <a:srgbClr val="8FA8C6"/>
                </a:solidFill>
                <a:latin typeface="Microsoft JhengHei"/>
                <a:ea typeface="Microsoft JhengHei"/>
                <a:cs typeface="Microsoft JhengHei"/>
              </a:rPr>
              <a:t>03/25</a:t>
            </a:r>
            <a:endParaRPr lang="zh-TW" sz="780">
              <a:latin typeface="Microsoft JhengHei"/>
              <a:ea typeface="Microsoft Jheng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2"/>
          </a:solidFill>
          <a:ln>
            <a:noFill/>
          </a:ln>
        </p:spPr>
      </p:sp>
      <p:sp>
        <p:nvSpPr>
          <p:cNvPr id="3" name="glow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5" name="orb1"/>
          <p:cNvSpPr/>
          <p:nvPr/>
        </p:nvSpPr>
        <p:spPr>
          <a:xfrm>
            <a:off x="9784080" y="-228600"/>
            <a:ext cx="2103120" cy="2103120"/>
          </a:xfrm>
          <a:prstGeom prst="ellipse">
            <a:avLst/>
          </a:prstGeom>
          <a:solidFill>
            <a:srgbClr val="38D5FF">
              <a:alpha val="16000"/>
            </a:srgbClr>
          </a:solidFill>
          <a:ln>
            <a:noFill/>
          </a:ln>
        </p:spPr>
      </p:sp>
      <p:sp>
        <p:nvSpPr>
          <p:cNvPr id="6" name="orb2"/>
          <p:cNvSpPr/>
          <p:nvPr/>
        </p:nvSpPr>
        <p:spPr>
          <a:xfrm>
            <a:off x="10607040" y="5257800"/>
            <a:ext cx="1280160" cy="1280160"/>
          </a:xfrm>
          <a:prstGeom prst="ellipse">
            <a:avLst/>
          </a:prstGeom>
          <a:solidFill>
            <a:srgbClr val="A78BFA">
              <a:alpha val="18000"/>
            </a:srgbClr>
          </a:solidFill>
          <a:ln>
            <a:noFill/>
          </a:ln>
        </p:spPr>
      </p:sp>
      <p:sp>
        <p:nvSpPr>
          <p:cNvPr id="7" name="text"/>
          <p:cNvSpPr/>
          <p:nvPr/>
        </p:nvSpPr>
        <p:spPr>
          <a:xfrm>
            <a:off x="502920" y="22860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950" b="1" dirty="0">
                <a:solidFill>
                  <a:srgbClr val="38D5FF"/>
                </a:solidFill>
                <a:latin typeface="Microsoft JhengHei"/>
                <a:ea typeface="Microsoft JhengHei"/>
                <a:cs typeface="Microsoft JhengHei"/>
              </a:rPr>
              <a:t>現況功能</a:t>
            </a:r>
            <a:endParaRPr lang="zh-TW" sz="950">
              <a:latin typeface="Microsoft JhengHei"/>
              <a:ea typeface="Microsoft JhengHei"/>
            </a:endParaRPr>
          </a:p>
        </p:txBody>
      </p:sp>
      <p:sp>
        <p:nvSpPr>
          <p:cNvPr id="8" name="text"/>
          <p:cNvSpPr/>
          <p:nvPr/>
        </p:nvSpPr>
        <p:spPr>
          <a:xfrm>
            <a:off x="502920" y="466344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230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現況功能地圖</a:t>
            </a:r>
            <a:endParaRPr lang="zh-TW" sz="2300">
              <a:latin typeface="Microsoft JhengHei"/>
              <a:ea typeface="Microsoft JhengHei"/>
            </a:endParaRPr>
          </a:p>
        </p:txBody>
      </p:sp>
      <p:sp>
        <p:nvSpPr>
          <p:cNvPr id="9" name="text"/>
          <p:cNvSpPr/>
          <p:nvPr/>
        </p:nvSpPr>
        <p:spPr>
          <a:xfrm>
            <a:off x="530352" y="93268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105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使用者前台、管理後台與資料保存形成完整的練習閉環。</a:t>
            </a:r>
            <a:endParaRPr lang="zh-TW" sz="1050">
              <a:latin typeface="Microsoft JhengHei"/>
              <a:ea typeface="Microsoft JhengHei"/>
            </a:endParaRPr>
          </a:p>
        </p:txBody>
      </p:sp>
      <p:sp>
        <p:nvSpPr>
          <p:cNvPr id="10" name="rule"/>
          <p:cNvSpPr/>
          <p:nvPr/>
        </p:nvSpPr>
        <p:spPr>
          <a:xfrm>
            <a:off x="502920" y="1225296"/>
            <a:ext cx="10881360" cy="18288"/>
          </a:xfrm>
          <a:prstGeom prst="rect">
            <a:avLst/>
          </a:prstGeom>
          <a:solidFill>
            <a:srgbClr val="38D5FF">
              <a:alpha val="60000"/>
            </a:srgbClr>
          </a:solidFill>
          <a:ln>
            <a:noFill/>
          </a:ln>
        </p:spPr>
      </p:sp>
      <p:sp>
        <p:nvSpPr>
          <p:cNvPr id="11" name="card"/>
          <p:cNvSpPr/>
          <p:nvPr/>
        </p:nvSpPr>
        <p:spPr>
          <a:xfrm>
            <a:off x="68580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2" name="card-accent"/>
          <p:cNvSpPr/>
          <p:nvPr/>
        </p:nvSpPr>
        <p:spPr>
          <a:xfrm>
            <a:off x="685800" y="1417320"/>
            <a:ext cx="73152" cy="1691640"/>
          </a:xfrm>
          <a:prstGeom prst="round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13" name="card-text"/>
          <p:cNvSpPr/>
          <p:nvPr/>
        </p:nvSpPr>
        <p:spPr>
          <a:xfrm>
            <a:off x="81381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使用者前台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選題 → 編輯 → 測試 → 計分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查看紀錄與排行榜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4" name="card"/>
          <p:cNvSpPr/>
          <p:nvPr/>
        </p:nvSpPr>
        <p:spPr>
          <a:xfrm>
            <a:off x="425196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5" name="card-accent"/>
          <p:cNvSpPr/>
          <p:nvPr/>
        </p:nvSpPr>
        <p:spPr>
          <a:xfrm>
            <a:off x="4251960" y="1417320"/>
            <a:ext cx="73152" cy="1691640"/>
          </a:xfrm>
          <a:prstGeom prst="roundRect">
            <a:avLst/>
          </a:prstGeom>
          <a:solidFill>
            <a:srgbClr val="3DDC97"/>
          </a:solidFill>
          <a:ln>
            <a:noFill/>
          </a:ln>
        </p:spPr>
      </p:sp>
      <p:sp>
        <p:nvSpPr>
          <p:cNvPr id="16" name="card-text"/>
          <p:cNvSpPr/>
          <p:nvPr/>
        </p:nvSpPr>
        <p:spPr>
          <a:xfrm>
            <a:off x="437997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資料保存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Firebase Auth / Firestore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未設定 Firebase 時使用 localStorage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7" name="card"/>
          <p:cNvSpPr/>
          <p:nvPr/>
        </p:nvSpPr>
        <p:spPr>
          <a:xfrm>
            <a:off x="781812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8" name="card-accent"/>
          <p:cNvSpPr/>
          <p:nvPr/>
        </p:nvSpPr>
        <p:spPr>
          <a:xfrm>
            <a:off x="7818120" y="1417320"/>
            <a:ext cx="73152" cy="16916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19" name="card-text"/>
          <p:cNvSpPr/>
          <p:nvPr/>
        </p:nvSpPr>
        <p:spPr>
          <a:xfrm>
            <a:off x="794613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管理後台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題庫匯入與編輯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使用者與解題紀錄維護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20" name="card"/>
          <p:cNvSpPr/>
          <p:nvPr/>
        </p:nvSpPr>
        <p:spPr>
          <a:xfrm>
            <a:off x="960120" y="4892040"/>
            <a:ext cx="10149840" cy="749808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21" name="card-accent"/>
          <p:cNvSpPr/>
          <p:nvPr/>
        </p:nvSpPr>
        <p:spPr>
          <a:xfrm>
            <a:off x="960120" y="4892040"/>
            <a:ext cx="73152" cy="749808"/>
          </a:xfrm>
          <a:prstGeom prst="round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22" name="card-text"/>
          <p:cNvSpPr/>
          <p:nvPr/>
        </p:nvSpPr>
        <p:spPr>
          <a:xfrm>
            <a:off x="1088136" y="4946904"/>
            <a:ext cx="9948672" cy="65836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重點提醒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這個閉環已足以支撐日常練習、教學展示與初步管理。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23" name="text"/>
          <p:cNvSpPr/>
          <p:nvPr/>
        </p:nvSpPr>
        <p:spPr>
          <a:xfrm>
            <a:off x="502920" y="6446520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720" dirty="0">
                <a:solidFill>
                  <a:srgbClr val="6F88A6"/>
                </a:solidFill>
                <a:latin typeface="Microsoft JhengHei"/>
                <a:ea typeface="Microsoft JhengHei"/>
                <a:cs typeface="Microsoft JhengHei"/>
              </a:rPr>
              <a:t>宜蘭縣資訊科技創意實作競賽網站功能說明</a:t>
            </a:r>
            <a:endParaRPr lang="zh-TW" sz="720">
              <a:latin typeface="Microsoft JhengHei"/>
              <a:ea typeface="Microsoft JhengHei"/>
            </a:endParaRPr>
          </a:p>
        </p:txBody>
      </p:sp>
      <p:sp>
        <p:nvSpPr>
          <p:cNvPr id="24" name="text"/>
          <p:cNvSpPr/>
          <p:nvPr/>
        </p:nvSpPr>
        <p:spPr>
          <a:xfrm>
            <a:off x="10515600" y="6446520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lang="zh-TW" sz="780" dirty="0">
                <a:solidFill>
                  <a:srgbClr val="8FA8C6"/>
                </a:solidFill>
                <a:latin typeface="Microsoft JhengHei"/>
                <a:ea typeface="Microsoft JhengHei"/>
                <a:cs typeface="Microsoft JhengHei"/>
              </a:rPr>
              <a:t>04/25</a:t>
            </a:r>
            <a:endParaRPr lang="zh-TW" sz="780">
              <a:latin typeface="Microsoft JhengHei"/>
              <a:ea typeface="Microsoft Jheng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2"/>
          </a:solidFill>
          <a:ln>
            <a:noFill/>
          </a:ln>
        </p:spPr>
      </p:sp>
      <p:sp>
        <p:nvSpPr>
          <p:cNvPr id="3" name="glow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5" name="orb1"/>
          <p:cNvSpPr/>
          <p:nvPr/>
        </p:nvSpPr>
        <p:spPr>
          <a:xfrm>
            <a:off x="9784080" y="-228600"/>
            <a:ext cx="2103120" cy="2103120"/>
          </a:xfrm>
          <a:prstGeom prst="ellipse">
            <a:avLst/>
          </a:prstGeom>
          <a:solidFill>
            <a:srgbClr val="38D5FF">
              <a:alpha val="16000"/>
            </a:srgbClr>
          </a:solidFill>
          <a:ln>
            <a:noFill/>
          </a:ln>
        </p:spPr>
      </p:sp>
      <p:sp>
        <p:nvSpPr>
          <p:cNvPr id="6" name="orb2"/>
          <p:cNvSpPr/>
          <p:nvPr/>
        </p:nvSpPr>
        <p:spPr>
          <a:xfrm>
            <a:off x="10607040" y="5257800"/>
            <a:ext cx="1280160" cy="1280160"/>
          </a:xfrm>
          <a:prstGeom prst="ellipse">
            <a:avLst/>
          </a:prstGeom>
          <a:solidFill>
            <a:srgbClr val="A78BFA">
              <a:alpha val="18000"/>
            </a:srgbClr>
          </a:solidFill>
          <a:ln>
            <a:noFill/>
          </a:ln>
        </p:spPr>
      </p:sp>
      <p:sp>
        <p:nvSpPr>
          <p:cNvPr id="7" name="text"/>
          <p:cNvSpPr/>
          <p:nvPr/>
        </p:nvSpPr>
        <p:spPr>
          <a:xfrm>
            <a:off x="502920" y="22860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950" b="1" dirty="0">
                <a:solidFill>
                  <a:srgbClr val="38D5FF"/>
                </a:solidFill>
                <a:latin typeface="Microsoft JhengHei"/>
                <a:ea typeface="Microsoft JhengHei"/>
                <a:cs typeface="Microsoft JhengHei"/>
              </a:rPr>
              <a:t>現況功能</a:t>
            </a:r>
            <a:endParaRPr lang="zh-TW" sz="950">
              <a:latin typeface="Microsoft JhengHei"/>
              <a:ea typeface="Microsoft JhengHei"/>
            </a:endParaRPr>
          </a:p>
        </p:txBody>
      </p:sp>
      <p:sp>
        <p:nvSpPr>
          <p:cNvPr id="8" name="text"/>
          <p:cNvSpPr/>
          <p:nvPr/>
        </p:nvSpPr>
        <p:spPr>
          <a:xfrm>
            <a:off x="502920" y="466344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230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使用者進入與題目瀏覽</a:t>
            </a:r>
            <a:endParaRPr lang="zh-TW" sz="2300">
              <a:latin typeface="Microsoft JhengHei"/>
              <a:ea typeface="Microsoft JhengHei"/>
            </a:endParaRPr>
          </a:p>
        </p:txBody>
      </p:sp>
      <p:sp>
        <p:nvSpPr>
          <p:cNvPr id="9" name="text"/>
          <p:cNvSpPr/>
          <p:nvPr/>
        </p:nvSpPr>
        <p:spPr>
          <a:xfrm>
            <a:off x="530352" y="93268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105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從登入、選題到開始練習，使用流程已具備完整入口。</a:t>
            </a:r>
            <a:endParaRPr lang="zh-TW" sz="1050">
              <a:latin typeface="Microsoft JhengHei"/>
              <a:ea typeface="Microsoft JhengHei"/>
            </a:endParaRPr>
          </a:p>
        </p:txBody>
      </p:sp>
      <p:sp>
        <p:nvSpPr>
          <p:cNvPr id="10" name="rule"/>
          <p:cNvSpPr/>
          <p:nvPr/>
        </p:nvSpPr>
        <p:spPr>
          <a:xfrm>
            <a:off x="502920" y="1225296"/>
            <a:ext cx="10881360" cy="18288"/>
          </a:xfrm>
          <a:prstGeom prst="rect">
            <a:avLst/>
          </a:prstGeom>
          <a:solidFill>
            <a:srgbClr val="38D5FF">
              <a:alpha val="60000"/>
            </a:srgbClr>
          </a:solidFill>
          <a:ln>
            <a:noFill/>
          </a:ln>
        </p:spPr>
      </p:sp>
      <p:sp>
        <p:nvSpPr>
          <p:cNvPr id="11" name="card"/>
          <p:cNvSpPr/>
          <p:nvPr/>
        </p:nvSpPr>
        <p:spPr>
          <a:xfrm>
            <a:off x="68580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2" name="card-accent"/>
          <p:cNvSpPr/>
          <p:nvPr/>
        </p:nvSpPr>
        <p:spPr>
          <a:xfrm>
            <a:off x="685800" y="1417320"/>
            <a:ext cx="73152" cy="1691640"/>
          </a:xfrm>
          <a:prstGeom prst="round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13" name="card-text"/>
          <p:cNvSpPr/>
          <p:nvPr/>
        </p:nvSpPr>
        <p:spPr>
          <a:xfrm>
            <a:off x="81381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登入入口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支援 Gmail / Google Sign-In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登入後可寫入遠端紀錄與排行榜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訪客仍可本機示範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4" name="card"/>
          <p:cNvSpPr/>
          <p:nvPr/>
        </p:nvSpPr>
        <p:spPr>
          <a:xfrm>
            <a:off x="425196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5" name="card-accent"/>
          <p:cNvSpPr/>
          <p:nvPr/>
        </p:nvSpPr>
        <p:spPr>
          <a:xfrm>
            <a:off x="4251960" y="1417320"/>
            <a:ext cx="73152" cy="1691640"/>
          </a:xfrm>
          <a:prstGeom prst="roundRect">
            <a:avLst/>
          </a:prstGeom>
          <a:solidFill>
            <a:srgbClr val="3DDC97"/>
          </a:solidFill>
          <a:ln>
            <a:noFill/>
          </a:ln>
        </p:spPr>
      </p:sp>
      <p:sp>
        <p:nvSpPr>
          <p:cNvPr id="16" name="card-text"/>
          <p:cNvSpPr/>
          <p:nvPr/>
        </p:nvSpPr>
        <p:spPr>
          <a:xfrm>
            <a:off x="437997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題目列表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左側固定題目欄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可依年度篩選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可依分類篩選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7" name="card"/>
          <p:cNvSpPr/>
          <p:nvPr/>
        </p:nvSpPr>
        <p:spPr>
          <a:xfrm>
            <a:off x="781812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8" name="card-accent"/>
          <p:cNvSpPr/>
          <p:nvPr/>
        </p:nvSpPr>
        <p:spPr>
          <a:xfrm>
            <a:off x="7818120" y="1417320"/>
            <a:ext cx="73152" cy="16916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9" name="card-text"/>
          <p:cNvSpPr/>
          <p:nvPr/>
        </p:nvSpPr>
        <p:spPr>
          <a:xfrm>
            <a:off x="794613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狀態提示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完成、練習中、未開始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最佳分數與提交次數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最近提交日期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20" name="text"/>
          <p:cNvSpPr/>
          <p:nvPr/>
        </p:nvSpPr>
        <p:spPr>
          <a:xfrm>
            <a:off x="502920" y="6446520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720" dirty="0">
                <a:solidFill>
                  <a:srgbClr val="6F88A6"/>
                </a:solidFill>
                <a:latin typeface="Microsoft JhengHei"/>
                <a:ea typeface="Microsoft JhengHei"/>
                <a:cs typeface="Microsoft JhengHei"/>
              </a:rPr>
              <a:t>宜蘭縣資訊科技創意實作競賽網站功能說明</a:t>
            </a:r>
            <a:endParaRPr lang="zh-TW" sz="720">
              <a:latin typeface="Microsoft JhengHei"/>
              <a:ea typeface="Microsoft JhengHei"/>
            </a:endParaRPr>
          </a:p>
        </p:txBody>
      </p:sp>
      <p:sp>
        <p:nvSpPr>
          <p:cNvPr id="21" name="text"/>
          <p:cNvSpPr/>
          <p:nvPr/>
        </p:nvSpPr>
        <p:spPr>
          <a:xfrm>
            <a:off x="10515600" y="6446520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lang="zh-TW" sz="780" dirty="0">
                <a:solidFill>
                  <a:srgbClr val="8FA8C6"/>
                </a:solidFill>
                <a:latin typeface="Microsoft JhengHei"/>
                <a:ea typeface="Microsoft JhengHei"/>
                <a:cs typeface="Microsoft JhengHei"/>
              </a:rPr>
              <a:t>05/25</a:t>
            </a:r>
            <a:endParaRPr lang="zh-TW" sz="780">
              <a:latin typeface="Microsoft JhengHei"/>
              <a:ea typeface="Microsoft Jheng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2"/>
          </a:solidFill>
          <a:ln>
            <a:noFill/>
          </a:ln>
        </p:spPr>
      </p:sp>
      <p:sp>
        <p:nvSpPr>
          <p:cNvPr id="3" name="glow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5" name="orb1"/>
          <p:cNvSpPr/>
          <p:nvPr/>
        </p:nvSpPr>
        <p:spPr>
          <a:xfrm>
            <a:off x="9784080" y="-228600"/>
            <a:ext cx="2103120" cy="2103120"/>
          </a:xfrm>
          <a:prstGeom prst="ellipse">
            <a:avLst/>
          </a:prstGeom>
          <a:solidFill>
            <a:srgbClr val="38D5FF">
              <a:alpha val="16000"/>
            </a:srgbClr>
          </a:solidFill>
          <a:ln>
            <a:noFill/>
          </a:ln>
        </p:spPr>
      </p:sp>
      <p:sp>
        <p:nvSpPr>
          <p:cNvPr id="6" name="orb2"/>
          <p:cNvSpPr/>
          <p:nvPr/>
        </p:nvSpPr>
        <p:spPr>
          <a:xfrm>
            <a:off x="10607040" y="5257800"/>
            <a:ext cx="1280160" cy="1280160"/>
          </a:xfrm>
          <a:prstGeom prst="ellipse">
            <a:avLst/>
          </a:prstGeom>
          <a:solidFill>
            <a:srgbClr val="A78BFA">
              <a:alpha val="18000"/>
            </a:srgbClr>
          </a:solidFill>
          <a:ln>
            <a:noFill/>
          </a:ln>
        </p:spPr>
      </p:sp>
      <p:sp>
        <p:nvSpPr>
          <p:cNvPr id="7" name="text"/>
          <p:cNvSpPr/>
          <p:nvPr/>
        </p:nvSpPr>
        <p:spPr>
          <a:xfrm>
            <a:off x="502920" y="22860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950" b="1" dirty="0">
                <a:solidFill>
                  <a:srgbClr val="38D5FF"/>
                </a:solidFill>
                <a:latin typeface="Microsoft JhengHei"/>
                <a:ea typeface="Microsoft JhengHei"/>
                <a:cs typeface="Microsoft JhengHei"/>
              </a:rPr>
              <a:t>現況功能</a:t>
            </a:r>
            <a:endParaRPr lang="zh-TW" sz="950">
              <a:latin typeface="Microsoft JhengHei"/>
              <a:ea typeface="Microsoft JhengHei"/>
            </a:endParaRPr>
          </a:p>
        </p:txBody>
      </p:sp>
      <p:sp>
        <p:nvSpPr>
          <p:cNvPr id="8" name="text"/>
          <p:cNvSpPr/>
          <p:nvPr/>
        </p:nvSpPr>
        <p:spPr>
          <a:xfrm>
            <a:off x="502920" y="466344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230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Scratch / Blockly 編輯工作區</a:t>
            </a:r>
            <a:endParaRPr lang="zh-TW" sz="2300">
              <a:latin typeface="Microsoft JhengHei"/>
              <a:ea typeface="Microsoft JhengHei"/>
            </a:endParaRPr>
          </a:p>
        </p:txBody>
      </p:sp>
      <p:sp>
        <p:nvSpPr>
          <p:cNvPr id="9" name="text"/>
          <p:cNvSpPr/>
          <p:nvPr/>
        </p:nvSpPr>
        <p:spPr>
          <a:xfrm>
            <a:off x="530352" y="93268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105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中央工作區支援積木式程式設計，讓學生用視覺化方式完成題目。</a:t>
            </a:r>
            <a:endParaRPr lang="zh-TW" sz="1050">
              <a:latin typeface="Microsoft JhengHei"/>
              <a:ea typeface="Microsoft JhengHei"/>
            </a:endParaRPr>
          </a:p>
        </p:txBody>
      </p:sp>
      <p:sp>
        <p:nvSpPr>
          <p:cNvPr id="10" name="rule"/>
          <p:cNvSpPr/>
          <p:nvPr/>
        </p:nvSpPr>
        <p:spPr>
          <a:xfrm>
            <a:off x="502920" y="1225296"/>
            <a:ext cx="10881360" cy="18288"/>
          </a:xfrm>
          <a:prstGeom prst="rect">
            <a:avLst/>
          </a:prstGeom>
          <a:solidFill>
            <a:srgbClr val="38D5FF">
              <a:alpha val="60000"/>
            </a:srgbClr>
          </a:solidFill>
          <a:ln>
            <a:noFill/>
          </a:ln>
        </p:spPr>
      </p:sp>
      <p:sp>
        <p:nvSpPr>
          <p:cNvPr id="11" name="card"/>
          <p:cNvSpPr/>
          <p:nvPr/>
        </p:nvSpPr>
        <p:spPr>
          <a:xfrm>
            <a:off x="68580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2" name="card-accent"/>
          <p:cNvSpPr/>
          <p:nvPr/>
        </p:nvSpPr>
        <p:spPr>
          <a:xfrm>
            <a:off x="685800" y="1417320"/>
            <a:ext cx="73152" cy="1691640"/>
          </a:xfrm>
          <a:prstGeom prst="round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13" name="card-text"/>
          <p:cNvSpPr/>
          <p:nvPr/>
        </p:nvSpPr>
        <p:spPr>
          <a:xfrm>
            <a:off x="81381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雙模式切換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Scratch 模式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Blockly 模式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切換時保留目前工作區內容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4" name="card"/>
          <p:cNvSpPr/>
          <p:nvPr/>
        </p:nvSpPr>
        <p:spPr>
          <a:xfrm>
            <a:off x="425196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5" name="card-accent"/>
          <p:cNvSpPr/>
          <p:nvPr/>
        </p:nvSpPr>
        <p:spPr>
          <a:xfrm>
            <a:off x="4251960" y="1417320"/>
            <a:ext cx="73152" cy="1691640"/>
          </a:xfrm>
          <a:prstGeom prst="roundRect">
            <a:avLst/>
          </a:prstGeom>
          <a:solidFill>
            <a:srgbClr val="3DDC97"/>
          </a:solidFill>
          <a:ln>
            <a:noFill/>
          </a:ln>
        </p:spPr>
      </p:sp>
      <p:sp>
        <p:nvSpPr>
          <p:cNvPr id="16" name="card-text"/>
          <p:cNvSpPr/>
          <p:nvPr/>
        </p:nvSpPr>
        <p:spPr>
          <a:xfrm>
            <a:off x="437997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作品檔管理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下載 XML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上傳 XML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重設工作區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7" name="card"/>
          <p:cNvSpPr/>
          <p:nvPr/>
        </p:nvSpPr>
        <p:spPr>
          <a:xfrm>
            <a:off x="781812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8" name="card-accent"/>
          <p:cNvSpPr/>
          <p:nvPr/>
        </p:nvSpPr>
        <p:spPr>
          <a:xfrm>
            <a:off x="7818120" y="1417320"/>
            <a:ext cx="73152" cy="16916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19" name="card-text"/>
          <p:cNvSpPr/>
          <p:nvPr/>
        </p:nvSpPr>
        <p:spPr>
          <a:xfrm>
            <a:off x="794613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練習延續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工作區自動保存於本機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可重新載入提交紀錄中的 XML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題目切換後仍能接續練習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20" name="text"/>
          <p:cNvSpPr/>
          <p:nvPr/>
        </p:nvSpPr>
        <p:spPr>
          <a:xfrm>
            <a:off x="502920" y="6446520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720" dirty="0">
                <a:solidFill>
                  <a:srgbClr val="6F88A6"/>
                </a:solidFill>
                <a:latin typeface="Microsoft JhengHei"/>
                <a:ea typeface="Microsoft JhengHei"/>
                <a:cs typeface="Microsoft JhengHei"/>
              </a:rPr>
              <a:t>宜蘭縣資訊科技創意實作競賽網站功能說明</a:t>
            </a:r>
            <a:endParaRPr lang="zh-TW" sz="720">
              <a:latin typeface="Microsoft JhengHei"/>
              <a:ea typeface="Microsoft JhengHei"/>
            </a:endParaRPr>
          </a:p>
        </p:txBody>
      </p:sp>
      <p:sp>
        <p:nvSpPr>
          <p:cNvPr id="21" name="text"/>
          <p:cNvSpPr/>
          <p:nvPr/>
        </p:nvSpPr>
        <p:spPr>
          <a:xfrm>
            <a:off x="10515600" y="6446520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lang="zh-TW" sz="780" dirty="0">
                <a:solidFill>
                  <a:srgbClr val="8FA8C6"/>
                </a:solidFill>
                <a:latin typeface="Microsoft JhengHei"/>
                <a:ea typeface="Microsoft JhengHei"/>
                <a:cs typeface="Microsoft JhengHei"/>
              </a:rPr>
              <a:t>06/25</a:t>
            </a:r>
            <a:endParaRPr lang="zh-TW" sz="780">
              <a:latin typeface="Microsoft JhengHei"/>
              <a:ea typeface="Microsoft Jheng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2"/>
          </a:solidFill>
          <a:ln>
            <a:noFill/>
          </a:ln>
        </p:spPr>
      </p:sp>
      <p:sp>
        <p:nvSpPr>
          <p:cNvPr id="3" name="glow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5" name="orb1"/>
          <p:cNvSpPr/>
          <p:nvPr/>
        </p:nvSpPr>
        <p:spPr>
          <a:xfrm>
            <a:off x="9784080" y="-228600"/>
            <a:ext cx="2103120" cy="2103120"/>
          </a:xfrm>
          <a:prstGeom prst="ellipse">
            <a:avLst/>
          </a:prstGeom>
          <a:solidFill>
            <a:srgbClr val="38D5FF">
              <a:alpha val="16000"/>
            </a:srgbClr>
          </a:solidFill>
          <a:ln>
            <a:noFill/>
          </a:ln>
        </p:spPr>
      </p:sp>
      <p:sp>
        <p:nvSpPr>
          <p:cNvPr id="6" name="orb2"/>
          <p:cNvSpPr/>
          <p:nvPr/>
        </p:nvSpPr>
        <p:spPr>
          <a:xfrm>
            <a:off x="10607040" y="5257800"/>
            <a:ext cx="1280160" cy="1280160"/>
          </a:xfrm>
          <a:prstGeom prst="ellipse">
            <a:avLst/>
          </a:prstGeom>
          <a:solidFill>
            <a:srgbClr val="A78BFA">
              <a:alpha val="18000"/>
            </a:srgbClr>
          </a:solidFill>
          <a:ln>
            <a:noFill/>
          </a:ln>
        </p:spPr>
      </p:sp>
      <p:sp>
        <p:nvSpPr>
          <p:cNvPr id="7" name="text"/>
          <p:cNvSpPr/>
          <p:nvPr/>
        </p:nvSpPr>
        <p:spPr>
          <a:xfrm>
            <a:off x="502920" y="22860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950" b="1" dirty="0">
                <a:solidFill>
                  <a:srgbClr val="38D5FF"/>
                </a:solidFill>
                <a:latin typeface="Microsoft JhengHei"/>
                <a:ea typeface="Microsoft JhengHei"/>
                <a:cs typeface="Microsoft JhengHei"/>
              </a:rPr>
              <a:t>現況功能</a:t>
            </a:r>
            <a:endParaRPr lang="zh-TW" sz="950">
              <a:latin typeface="Microsoft JhengHei"/>
              <a:ea typeface="Microsoft JhengHei"/>
            </a:endParaRPr>
          </a:p>
        </p:txBody>
      </p:sp>
      <p:sp>
        <p:nvSpPr>
          <p:cNvPr id="8" name="text"/>
          <p:cNvSpPr/>
          <p:nvPr/>
        </p:nvSpPr>
        <p:spPr>
          <a:xfrm>
            <a:off x="502920" y="466344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230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題目說明與測資呈現</a:t>
            </a:r>
            <a:endParaRPr lang="zh-TW" sz="2300">
              <a:latin typeface="Microsoft JhengHei"/>
              <a:ea typeface="Microsoft JhengHei"/>
            </a:endParaRPr>
          </a:p>
        </p:txBody>
      </p:sp>
      <p:sp>
        <p:nvSpPr>
          <p:cNvPr id="9" name="text"/>
          <p:cNvSpPr/>
          <p:nvPr/>
        </p:nvSpPr>
        <p:spPr>
          <a:xfrm>
            <a:off x="530352" y="93268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105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題目頁可呈現完整作答資訊，並區分公開與隱藏測資。</a:t>
            </a:r>
            <a:endParaRPr lang="zh-TW" sz="1050">
              <a:latin typeface="Microsoft JhengHei"/>
              <a:ea typeface="Microsoft JhengHei"/>
            </a:endParaRPr>
          </a:p>
        </p:txBody>
      </p:sp>
      <p:sp>
        <p:nvSpPr>
          <p:cNvPr id="10" name="rule"/>
          <p:cNvSpPr/>
          <p:nvPr/>
        </p:nvSpPr>
        <p:spPr>
          <a:xfrm>
            <a:off x="502920" y="1225296"/>
            <a:ext cx="10881360" cy="18288"/>
          </a:xfrm>
          <a:prstGeom prst="rect">
            <a:avLst/>
          </a:prstGeom>
          <a:solidFill>
            <a:srgbClr val="38D5FF">
              <a:alpha val="60000"/>
            </a:srgbClr>
          </a:solidFill>
          <a:ln>
            <a:noFill/>
          </a:ln>
        </p:spPr>
      </p:sp>
      <p:sp>
        <p:nvSpPr>
          <p:cNvPr id="11" name="card"/>
          <p:cNvSpPr/>
          <p:nvPr/>
        </p:nvSpPr>
        <p:spPr>
          <a:xfrm>
            <a:off x="68580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2" name="card-accent"/>
          <p:cNvSpPr/>
          <p:nvPr/>
        </p:nvSpPr>
        <p:spPr>
          <a:xfrm>
            <a:off x="685800" y="1417320"/>
            <a:ext cx="73152" cy="1691640"/>
          </a:xfrm>
          <a:prstGeom prst="round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13" name="card-text"/>
          <p:cNvSpPr/>
          <p:nvPr/>
        </p:nvSpPr>
        <p:spPr>
          <a:xfrm>
            <a:off x="81381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題目資料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題名、年度、分類、難度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題目敘述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輸入格式與輸出格式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4" name="card"/>
          <p:cNvSpPr/>
          <p:nvPr/>
        </p:nvSpPr>
        <p:spPr>
          <a:xfrm>
            <a:off x="425196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5" name="card-accent"/>
          <p:cNvSpPr/>
          <p:nvPr/>
        </p:nvSpPr>
        <p:spPr>
          <a:xfrm>
            <a:off x="4251960" y="1417320"/>
            <a:ext cx="73152" cy="1691640"/>
          </a:xfrm>
          <a:prstGeom prst="roundRect">
            <a:avLst/>
          </a:prstGeom>
          <a:solidFill>
            <a:srgbClr val="3DDC97"/>
          </a:solidFill>
          <a:ln>
            <a:noFill/>
          </a:ln>
        </p:spPr>
      </p:sp>
      <p:sp>
        <p:nvSpPr>
          <p:cNvPr id="16" name="card-text"/>
          <p:cNvSpPr/>
          <p:nvPr/>
        </p:nvSpPr>
        <p:spPr>
          <a:xfrm>
            <a:off x="437997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範例資料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顯示範例輸入與輸出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協助學生理解作答方向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範例數量可由後台維護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7" name="card"/>
          <p:cNvSpPr/>
          <p:nvPr/>
        </p:nvSpPr>
        <p:spPr>
          <a:xfrm>
            <a:off x="781812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8" name="card-accent"/>
          <p:cNvSpPr/>
          <p:nvPr/>
        </p:nvSpPr>
        <p:spPr>
          <a:xfrm>
            <a:off x="7818120" y="1417320"/>
            <a:ext cx="73152" cy="16916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9" name="card-text"/>
          <p:cNvSpPr/>
          <p:nvPr/>
        </p:nvSpPr>
        <p:spPr>
          <a:xfrm>
            <a:off x="794613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測資策略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公開測資可展示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隱藏測資納入正式分數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畫面不顯示隱藏測資內容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20" name="card"/>
          <p:cNvSpPr/>
          <p:nvPr/>
        </p:nvSpPr>
        <p:spPr>
          <a:xfrm>
            <a:off x="960120" y="4892040"/>
            <a:ext cx="10149840" cy="749808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21" name="card-accent"/>
          <p:cNvSpPr/>
          <p:nvPr/>
        </p:nvSpPr>
        <p:spPr>
          <a:xfrm>
            <a:off x="960120" y="4892040"/>
            <a:ext cx="73152" cy="749808"/>
          </a:xfrm>
          <a:prstGeom prst="round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22" name="card-text"/>
          <p:cNvSpPr/>
          <p:nvPr/>
        </p:nvSpPr>
        <p:spPr>
          <a:xfrm>
            <a:off x="1088136" y="4946904"/>
            <a:ext cx="9948672" cy="65836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重點提醒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目前隱藏測資是介面隱藏，不是正式賽等級的測資保密。正式賽仍需後端評分。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23" name="text"/>
          <p:cNvSpPr/>
          <p:nvPr/>
        </p:nvSpPr>
        <p:spPr>
          <a:xfrm>
            <a:off x="502920" y="6446520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720" dirty="0">
                <a:solidFill>
                  <a:srgbClr val="6F88A6"/>
                </a:solidFill>
                <a:latin typeface="Microsoft JhengHei"/>
                <a:ea typeface="Microsoft JhengHei"/>
                <a:cs typeface="Microsoft JhengHei"/>
              </a:rPr>
              <a:t>宜蘭縣資訊科技創意實作競賽網站功能說明</a:t>
            </a:r>
            <a:endParaRPr lang="zh-TW" sz="720">
              <a:latin typeface="Microsoft JhengHei"/>
              <a:ea typeface="Microsoft JhengHei"/>
            </a:endParaRPr>
          </a:p>
        </p:txBody>
      </p:sp>
      <p:sp>
        <p:nvSpPr>
          <p:cNvPr id="24" name="text"/>
          <p:cNvSpPr/>
          <p:nvPr/>
        </p:nvSpPr>
        <p:spPr>
          <a:xfrm>
            <a:off x="10515600" y="6446520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lang="zh-TW" sz="780" dirty="0">
                <a:solidFill>
                  <a:srgbClr val="8FA8C6"/>
                </a:solidFill>
                <a:latin typeface="Microsoft JhengHei"/>
                <a:ea typeface="Microsoft JhengHei"/>
                <a:cs typeface="Microsoft JhengHei"/>
              </a:rPr>
              <a:t>07/25</a:t>
            </a:r>
            <a:endParaRPr lang="zh-TW" sz="780">
              <a:latin typeface="Microsoft JhengHei"/>
              <a:ea typeface="Microsoft Jheng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2"/>
          </a:solidFill>
          <a:ln>
            <a:noFill/>
          </a:ln>
        </p:spPr>
      </p:sp>
      <p:sp>
        <p:nvSpPr>
          <p:cNvPr id="3" name="glow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5" name="orb1"/>
          <p:cNvSpPr/>
          <p:nvPr/>
        </p:nvSpPr>
        <p:spPr>
          <a:xfrm>
            <a:off x="9784080" y="-228600"/>
            <a:ext cx="2103120" cy="2103120"/>
          </a:xfrm>
          <a:prstGeom prst="ellipse">
            <a:avLst/>
          </a:prstGeom>
          <a:solidFill>
            <a:srgbClr val="38D5FF">
              <a:alpha val="16000"/>
            </a:srgbClr>
          </a:solidFill>
          <a:ln>
            <a:noFill/>
          </a:ln>
        </p:spPr>
      </p:sp>
      <p:sp>
        <p:nvSpPr>
          <p:cNvPr id="6" name="orb2"/>
          <p:cNvSpPr/>
          <p:nvPr/>
        </p:nvSpPr>
        <p:spPr>
          <a:xfrm>
            <a:off x="10607040" y="5257800"/>
            <a:ext cx="1280160" cy="1280160"/>
          </a:xfrm>
          <a:prstGeom prst="ellipse">
            <a:avLst/>
          </a:prstGeom>
          <a:solidFill>
            <a:srgbClr val="A78BFA">
              <a:alpha val="18000"/>
            </a:srgbClr>
          </a:solidFill>
          <a:ln>
            <a:noFill/>
          </a:ln>
        </p:spPr>
      </p:sp>
      <p:sp>
        <p:nvSpPr>
          <p:cNvPr id="7" name="text"/>
          <p:cNvSpPr/>
          <p:nvPr/>
        </p:nvSpPr>
        <p:spPr>
          <a:xfrm>
            <a:off x="502920" y="22860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950" b="1" dirty="0">
                <a:solidFill>
                  <a:srgbClr val="38D5FF"/>
                </a:solidFill>
                <a:latin typeface="Microsoft JhengHei"/>
                <a:ea typeface="Microsoft JhengHei"/>
                <a:cs typeface="Microsoft JhengHei"/>
              </a:rPr>
              <a:t>現況功能</a:t>
            </a:r>
            <a:endParaRPr lang="zh-TW" sz="950">
              <a:latin typeface="Microsoft JhengHei"/>
              <a:ea typeface="Microsoft JhengHei"/>
            </a:endParaRPr>
          </a:p>
        </p:txBody>
      </p:sp>
      <p:sp>
        <p:nvSpPr>
          <p:cNvPr id="8" name="text"/>
          <p:cNvSpPr/>
          <p:nvPr/>
        </p:nvSpPr>
        <p:spPr>
          <a:xfrm>
            <a:off x="502920" y="466344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230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自行測試與互動執行</a:t>
            </a:r>
            <a:endParaRPr lang="zh-TW" sz="2300">
              <a:latin typeface="Microsoft JhengHei"/>
              <a:ea typeface="Microsoft JhengHei"/>
            </a:endParaRPr>
          </a:p>
        </p:txBody>
      </p:sp>
      <p:sp>
        <p:nvSpPr>
          <p:cNvPr id="9" name="text"/>
          <p:cNvSpPr/>
          <p:nvPr/>
        </p:nvSpPr>
        <p:spPr>
          <a:xfrm>
            <a:off x="530352" y="93268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105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學生可先測試程式輸出，再決定是否進入正式計分。</a:t>
            </a:r>
            <a:endParaRPr lang="zh-TW" sz="1050">
              <a:latin typeface="Microsoft JhengHei"/>
              <a:ea typeface="Microsoft JhengHei"/>
            </a:endParaRPr>
          </a:p>
        </p:txBody>
      </p:sp>
      <p:sp>
        <p:nvSpPr>
          <p:cNvPr id="10" name="rule"/>
          <p:cNvSpPr/>
          <p:nvPr/>
        </p:nvSpPr>
        <p:spPr>
          <a:xfrm>
            <a:off x="502920" y="1225296"/>
            <a:ext cx="10881360" cy="18288"/>
          </a:xfrm>
          <a:prstGeom prst="rect">
            <a:avLst/>
          </a:prstGeom>
          <a:solidFill>
            <a:srgbClr val="38D5FF">
              <a:alpha val="60000"/>
            </a:srgbClr>
          </a:solidFill>
          <a:ln>
            <a:noFill/>
          </a:ln>
        </p:spPr>
      </p:sp>
      <p:sp>
        <p:nvSpPr>
          <p:cNvPr id="11" name="card"/>
          <p:cNvSpPr/>
          <p:nvPr/>
        </p:nvSpPr>
        <p:spPr>
          <a:xfrm>
            <a:off x="68580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2" name="card-accent"/>
          <p:cNvSpPr/>
          <p:nvPr/>
        </p:nvSpPr>
        <p:spPr>
          <a:xfrm>
            <a:off x="685800" y="1417320"/>
            <a:ext cx="73152" cy="1691640"/>
          </a:xfrm>
          <a:prstGeom prst="round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13" name="card-text"/>
          <p:cNvSpPr/>
          <p:nvPr/>
        </p:nvSpPr>
        <p:spPr>
          <a:xfrm>
            <a:off x="81381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自行測試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可輸入自訂測試資料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即時看到程式輸出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不寫入排行榜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4" name="card"/>
          <p:cNvSpPr/>
          <p:nvPr/>
        </p:nvSpPr>
        <p:spPr>
          <a:xfrm>
            <a:off x="425196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5" name="card-accent"/>
          <p:cNvSpPr/>
          <p:nvPr/>
        </p:nvSpPr>
        <p:spPr>
          <a:xfrm>
            <a:off x="4251960" y="1417320"/>
            <a:ext cx="73152" cy="1691640"/>
          </a:xfrm>
          <a:prstGeom prst="roundRect">
            <a:avLst/>
          </a:prstGeom>
          <a:solidFill>
            <a:srgbClr val="3DDC97"/>
          </a:solidFill>
          <a:ln>
            <a:noFill/>
          </a:ln>
        </p:spPr>
      </p:sp>
      <p:sp>
        <p:nvSpPr>
          <p:cNvPr id="16" name="card-text"/>
          <p:cNvSpPr/>
          <p:nvPr/>
        </p:nvSpPr>
        <p:spPr>
          <a:xfrm>
            <a:off x="437997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互動執行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支援 prompt / alert 類型互動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執行結果顯示於測試區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錯誤訊息直接回饋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7" name="card"/>
          <p:cNvSpPr/>
          <p:nvPr/>
        </p:nvSpPr>
        <p:spPr>
          <a:xfrm>
            <a:off x="781812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8" name="card-accent"/>
          <p:cNvSpPr/>
          <p:nvPr/>
        </p:nvSpPr>
        <p:spPr>
          <a:xfrm>
            <a:off x="7818120" y="1417320"/>
            <a:ext cx="73152" cy="16916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19" name="card-text"/>
          <p:cNvSpPr/>
          <p:nvPr/>
        </p:nvSpPr>
        <p:spPr>
          <a:xfrm>
            <a:off x="794613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執行保護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Web Worker 執行學生程式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有逾時限制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輸出長度限制避免畫面失控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20" name="text"/>
          <p:cNvSpPr/>
          <p:nvPr/>
        </p:nvSpPr>
        <p:spPr>
          <a:xfrm>
            <a:off x="502920" y="6446520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720" dirty="0">
                <a:solidFill>
                  <a:srgbClr val="6F88A6"/>
                </a:solidFill>
                <a:latin typeface="Microsoft JhengHei"/>
                <a:ea typeface="Microsoft JhengHei"/>
                <a:cs typeface="Microsoft JhengHei"/>
              </a:rPr>
              <a:t>宜蘭縣資訊科技創意實作競賽網站功能說明</a:t>
            </a:r>
            <a:endParaRPr lang="zh-TW" sz="720">
              <a:latin typeface="Microsoft JhengHei"/>
              <a:ea typeface="Microsoft JhengHei"/>
            </a:endParaRPr>
          </a:p>
        </p:txBody>
      </p:sp>
      <p:sp>
        <p:nvSpPr>
          <p:cNvPr id="21" name="text"/>
          <p:cNvSpPr/>
          <p:nvPr/>
        </p:nvSpPr>
        <p:spPr>
          <a:xfrm>
            <a:off x="10515600" y="6446520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lang="zh-TW" sz="780" dirty="0">
                <a:solidFill>
                  <a:srgbClr val="8FA8C6"/>
                </a:solidFill>
                <a:latin typeface="Microsoft JhengHei"/>
                <a:ea typeface="Microsoft JhengHei"/>
                <a:cs typeface="Microsoft JhengHei"/>
              </a:rPr>
              <a:t>08/25</a:t>
            </a:r>
            <a:endParaRPr lang="zh-TW" sz="780">
              <a:latin typeface="Microsoft JhengHei"/>
              <a:ea typeface="Microsoft Jheng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2"/>
          </a:solidFill>
          <a:ln>
            <a:noFill/>
          </a:ln>
        </p:spPr>
      </p:sp>
      <p:sp>
        <p:nvSpPr>
          <p:cNvPr id="3" name="glow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5" name="orb1"/>
          <p:cNvSpPr/>
          <p:nvPr/>
        </p:nvSpPr>
        <p:spPr>
          <a:xfrm>
            <a:off x="9784080" y="-228600"/>
            <a:ext cx="2103120" cy="2103120"/>
          </a:xfrm>
          <a:prstGeom prst="ellipse">
            <a:avLst/>
          </a:prstGeom>
          <a:solidFill>
            <a:srgbClr val="38D5FF">
              <a:alpha val="16000"/>
            </a:srgbClr>
          </a:solidFill>
          <a:ln>
            <a:noFill/>
          </a:ln>
        </p:spPr>
      </p:sp>
      <p:sp>
        <p:nvSpPr>
          <p:cNvPr id="6" name="orb2"/>
          <p:cNvSpPr/>
          <p:nvPr/>
        </p:nvSpPr>
        <p:spPr>
          <a:xfrm>
            <a:off x="10607040" y="5257800"/>
            <a:ext cx="1280160" cy="1280160"/>
          </a:xfrm>
          <a:prstGeom prst="ellipse">
            <a:avLst/>
          </a:prstGeom>
          <a:solidFill>
            <a:srgbClr val="A78BFA">
              <a:alpha val="18000"/>
            </a:srgbClr>
          </a:solidFill>
          <a:ln>
            <a:noFill/>
          </a:ln>
        </p:spPr>
      </p:sp>
      <p:sp>
        <p:nvSpPr>
          <p:cNvPr id="7" name="text"/>
          <p:cNvSpPr/>
          <p:nvPr/>
        </p:nvSpPr>
        <p:spPr>
          <a:xfrm>
            <a:off x="502920" y="22860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950" b="1" dirty="0">
                <a:solidFill>
                  <a:srgbClr val="38D5FF"/>
                </a:solidFill>
                <a:latin typeface="Microsoft JhengHei"/>
                <a:ea typeface="Microsoft JhengHei"/>
                <a:cs typeface="Microsoft JhengHei"/>
              </a:rPr>
              <a:t>現況功能</a:t>
            </a:r>
            <a:endParaRPr lang="zh-TW" sz="950">
              <a:latin typeface="Microsoft JhengHei"/>
              <a:ea typeface="Microsoft JhengHei"/>
            </a:endParaRPr>
          </a:p>
        </p:txBody>
      </p:sp>
      <p:sp>
        <p:nvSpPr>
          <p:cNvPr id="8" name="text"/>
          <p:cNvSpPr/>
          <p:nvPr/>
        </p:nvSpPr>
        <p:spPr>
          <a:xfrm>
            <a:off x="502920" y="466344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230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正式計分與提交紀錄</a:t>
            </a:r>
            <a:endParaRPr lang="zh-TW" sz="2300">
              <a:latin typeface="Microsoft JhengHei"/>
              <a:ea typeface="Microsoft JhengHei"/>
            </a:endParaRPr>
          </a:p>
        </p:txBody>
      </p:sp>
      <p:sp>
        <p:nvSpPr>
          <p:cNvPr id="9" name="text"/>
          <p:cNvSpPr/>
          <p:nvPr/>
        </p:nvSpPr>
        <p:spPr>
          <a:xfrm>
            <a:off x="530352" y="93268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105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正式計分會比對測資、產生分數，並保存為個人練習紀錄。</a:t>
            </a:r>
            <a:endParaRPr lang="zh-TW" sz="1050">
              <a:latin typeface="Microsoft JhengHei"/>
              <a:ea typeface="Microsoft JhengHei"/>
            </a:endParaRPr>
          </a:p>
        </p:txBody>
      </p:sp>
      <p:sp>
        <p:nvSpPr>
          <p:cNvPr id="10" name="rule"/>
          <p:cNvSpPr/>
          <p:nvPr/>
        </p:nvSpPr>
        <p:spPr>
          <a:xfrm>
            <a:off x="502920" y="1225296"/>
            <a:ext cx="10881360" cy="18288"/>
          </a:xfrm>
          <a:prstGeom prst="rect">
            <a:avLst/>
          </a:prstGeom>
          <a:solidFill>
            <a:srgbClr val="38D5FF">
              <a:alpha val="60000"/>
            </a:srgbClr>
          </a:solidFill>
          <a:ln>
            <a:noFill/>
          </a:ln>
        </p:spPr>
      </p:sp>
      <p:sp>
        <p:nvSpPr>
          <p:cNvPr id="11" name="card"/>
          <p:cNvSpPr/>
          <p:nvPr/>
        </p:nvSpPr>
        <p:spPr>
          <a:xfrm>
            <a:off x="68580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2" name="card-accent"/>
          <p:cNvSpPr/>
          <p:nvPr/>
        </p:nvSpPr>
        <p:spPr>
          <a:xfrm>
            <a:off x="685800" y="1417320"/>
            <a:ext cx="73152" cy="1691640"/>
          </a:xfrm>
          <a:prstGeom prst="round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13" name="card-text"/>
          <p:cNvSpPr/>
          <p:nvPr/>
        </p:nvSpPr>
        <p:spPr>
          <a:xfrm>
            <a:off x="81381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計分結果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總分與滿分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通過題數與通過率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accepted / partial / failed / error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4" name="card"/>
          <p:cNvSpPr/>
          <p:nvPr/>
        </p:nvSpPr>
        <p:spPr>
          <a:xfrm>
            <a:off x="425196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5" name="card-accent"/>
          <p:cNvSpPr/>
          <p:nvPr/>
        </p:nvSpPr>
        <p:spPr>
          <a:xfrm>
            <a:off x="4251960" y="1417320"/>
            <a:ext cx="73152" cy="16916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6" name="card-text"/>
          <p:cNvSpPr/>
          <p:nvPr/>
        </p:nvSpPr>
        <p:spPr>
          <a:xfrm>
            <a:off x="437997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提交限制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每題最多 10 次提交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登入後寫入 Firestore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訪客保存於本機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7" name="card"/>
          <p:cNvSpPr/>
          <p:nvPr/>
        </p:nvSpPr>
        <p:spPr>
          <a:xfrm>
            <a:off x="781812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8" name="card-accent"/>
          <p:cNvSpPr/>
          <p:nvPr/>
        </p:nvSpPr>
        <p:spPr>
          <a:xfrm>
            <a:off x="7818120" y="1417320"/>
            <a:ext cx="73152" cy="1691640"/>
          </a:xfrm>
          <a:prstGeom prst="roundRect">
            <a:avLst/>
          </a:prstGeom>
          <a:solidFill>
            <a:srgbClr val="3DDC97"/>
          </a:solidFill>
          <a:ln>
            <a:noFill/>
          </a:ln>
        </p:spPr>
      </p:sp>
      <p:sp>
        <p:nvSpPr>
          <p:cNvPr id="19" name="card-text"/>
          <p:cNvSpPr/>
          <p:nvPr/>
        </p:nvSpPr>
        <p:spPr>
          <a:xfrm>
            <a:off x="794613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作答時間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記錄開始作答時間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滿分時記錄完成時間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可計算解題耗時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20" name="card"/>
          <p:cNvSpPr/>
          <p:nvPr/>
        </p:nvSpPr>
        <p:spPr>
          <a:xfrm>
            <a:off x="960120" y="4892040"/>
            <a:ext cx="10149840" cy="749808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21" name="card-accent"/>
          <p:cNvSpPr/>
          <p:nvPr/>
        </p:nvSpPr>
        <p:spPr>
          <a:xfrm>
            <a:off x="960120" y="4892040"/>
            <a:ext cx="73152" cy="749808"/>
          </a:xfrm>
          <a:prstGeom prst="round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22" name="card-text"/>
          <p:cNvSpPr/>
          <p:nvPr/>
        </p:nvSpPr>
        <p:spPr>
          <a:xfrm>
            <a:off x="1088136" y="4946904"/>
            <a:ext cx="9948672" cy="65836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重點提醒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提交紀錄包含題目、模式、XML、產生程式碼、測資結果、分數、通過率、耗時與時間戳。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23" name="text"/>
          <p:cNvSpPr/>
          <p:nvPr/>
        </p:nvSpPr>
        <p:spPr>
          <a:xfrm>
            <a:off x="502920" y="6446520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720" dirty="0">
                <a:solidFill>
                  <a:srgbClr val="6F88A6"/>
                </a:solidFill>
                <a:latin typeface="Microsoft JhengHei"/>
                <a:ea typeface="Microsoft JhengHei"/>
                <a:cs typeface="Microsoft JhengHei"/>
              </a:rPr>
              <a:t>宜蘭縣資訊科技創意實作競賽網站功能說明</a:t>
            </a:r>
            <a:endParaRPr lang="zh-TW" sz="720">
              <a:latin typeface="Microsoft JhengHei"/>
              <a:ea typeface="Microsoft JhengHei"/>
            </a:endParaRPr>
          </a:p>
        </p:txBody>
      </p:sp>
      <p:sp>
        <p:nvSpPr>
          <p:cNvPr id="24" name="text"/>
          <p:cNvSpPr/>
          <p:nvPr/>
        </p:nvSpPr>
        <p:spPr>
          <a:xfrm>
            <a:off x="10515600" y="6446520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lang="zh-TW" sz="780" dirty="0">
                <a:solidFill>
                  <a:srgbClr val="8FA8C6"/>
                </a:solidFill>
                <a:latin typeface="Microsoft JhengHei"/>
                <a:ea typeface="Microsoft JhengHei"/>
                <a:cs typeface="Microsoft JhengHei"/>
              </a:rPr>
              <a:t>09/25</a:t>
            </a:r>
            <a:endParaRPr lang="zh-TW" sz="780">
              <a:latin typeface="Microsoft JhengHei"/>
              <a:ea typeface="Microsoft Jheng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2"/>
          </a:solidFill>
          <a:ln>
            <a:noFill/>
          </a:ln>
        </p:spPr>
      </p:sp>
      <p:sp>
        <p:nvSpPr>
          <p:cNvPr id="3" name="glow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5" name="orb1"/>
          <p:cNvSpPr/>
          <p:nvPr/>
        </p:nvSpPr>
        <p:spPr>
          <a:xfrm>
            <a:off x="9784080" y="-228600"/>
            <a:ext cx="2103120" cy="2103120"/>
          </a:xfrm>
          <a:prstGeom prst="ellipse">
            <a:avLst/>
          </a:prstGeom>
          <a:solidFill>
            <a:srgbClr val="38D5FF">
              <a:alpha val="16000"/>
            </a:srgbClr>
          </a:solidFill>
          <a:ln>
            <a:noFill/>
          </a:ln>
        </p:spPr>
      </p:sp>
      <p:sp>
        <p:nvSpPr>
          <p:cNvPr id="6" name="orb2"/>
          <p:cNvSpPr/>
          <p:nvPr/>
        </p:nvSpPr>
        <p:spPr>
          <a:xfrm>
            <a:off x="10607040" y="5257800"/>
            <a:ext cx="1280160" cy="1280160"/>
          </a:xfrm>
          <a:prstGeom prst="ellipse">
            <a:avLst/>
          </a:prstGeom>
          <a:solidFill>
            <a:srgbClr val="A78BFA">
              <a:alpha val="18000"/>
            </a:srgbClr>
          </a:solidFill>
          <a:ln>
            <a:noFill/>
          </a:ln>
        </p:spPr>
      </p:sp>
      <p:sp>
        <p:nvSpPr>
          <p:cNvPr id="7" name="text"/>
          <p:cNvSpPr/>
          <p:nvPr/>
        </p:nvSpPr>
        <p:spPr>
          <a:xfrm>
            <a:off x="502920" y="22860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950" b="1" dirty="0">
                <a:solidFill>
                  <a:srgbClr val="38D5FF"/>
                </a:solidFill>
                <a:latin typeface="Microsoft JhengHei"/>
                <a:ea typeface="Microsoft JhengHei"/>
                <a:cs typeface="Microsoft JhengHei"/>
              </a:rPr>
              <a:t>現況功能</a:t>
            </a:r>
            <a:endParaRPr lang="zh-TW" sz="950">
              <a:latin typeface="Microsoft JhengHei"/>
              <a:ea typeface="Microsoft JhengHei"/>
            </a:endParaRPr>
          </a:p>
        </p:txBody>
      </p:sp>
      <p:sp>
        <p:nvSpPr>
          <p:cNvPr id="8" name="text"/>
          <p:cNvSpPr/>
          <p:nvPr/>
        </p:nvSpPr>
        <p:spPr>
          <a:xfrm>
            <a:off x="502920" y="466344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230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個人練習歷程</a:t>
            </a:r>
            <a:endParaRPr lang="zh-TW" sz="2300">
              <a:latin typeface="Microsoft JhengHei"/>
              <a:ea typeface="Microsoft JhengHei"/>
            </a:endParaRPr>
          </a:p>
        </p:txBody>
      </p:sp>
      <p:sp>
        <p:nvSpPr>
          <p:cNvPr id="9" name="text"/>
          <p:cNvSpPr/>
          <p:nvPr/>
        </p:nvSpPr>
        <p:spPr>
          <a:xfrm>
            <a:off x="530352" y="93268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105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網站已能把每位學生的練習狀態轉成可回顧的學習紀錄。</a:t>
            </a:r>
            <a:endParaRPr lang="zh-TW" sz="1050">
              <a:latin typeface="Microsoft JhengHei"/>
              <a:ea typeface="Microsoft JhengHei"/>
            </a:endParaRPr>
          </a:p>
        </p:txBody>
      </p:sp>
      <p:sp>
        <p:nvSpPr>
          <p:cNvPr id="10" name="rule"/>
          <p:cNvSpPr/>
          <p:nvPr/>
        </p:nvSpPr>
        <p:spPr>
          <a:xfrm>
            <a:off x="502920" y="1225296"/>
            <a:ext cx="10881360" cy="18288"/>
          </a:xfrm>
          <a:prstGeom prst="rect">
            <a:avLst/>
          </a:prstGeom>
          <a:solidFill>
            <a:srgbClr val="38D5FF">
              <a:alpha val="60000"/>
            </a:srgbClr>
          </a:solidFill>
          <a:ln>
            <a:noFill/>
          </a:ln>
        </p:spPr>
      </p:sp>
      <p:sp>
        <p:nvSpPr>
          <p:cNvPr id="11" name="card"/>
          <p:cNvSpPr/>
          <p:nvPr/>
        </p:nvSpPr>
        <p:spPr>
          <a:xfrm>
            <a:off x="68580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2" name="card-accent"/>
          <p:cNvSpPr/>
          <p:nvPr/>
        </p:nvSpPr>
        <p:spPr>
          <a:xfrm>
            <a:off x="685800" y="1417320"/>
            <a:ext cx="73152" cy="1691640"/>
          </a:xfrm>
          <a:prstGeom prst="round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13" name="card-text"/>
          <p:cNvSpPr/>
          <p:nvPr/>
        </p:nvSpPr>
        <p:spPr>
          <a:xfrm>
            <a:off x="81381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進度摘要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完成題數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練習中題數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未完成題數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4" name="card"/>
          <p:cNvSpPr/>
          <p:nvPr/>
        </p:nvSpPr>
        <p:spPr>
          <a:xfrm>
            <a:off x="425196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5" name="card-accent"/>
          <p:cNvSpPr/>
          <p:nvPr/>
        </p:nvSpPr>
        <p:spPr>
          <a:xfrm>
            <a:off x="4251960" y="1417320"/>
            <a:ext cx="73152" cy="1691640"/>
          </a:xfrm>
          <a:prstGeom prst="roundRect">
            <a:avLst/>
          </a:prstGeom>
          <a:solidFill>
            <a:srgbClr val="3DDC97"/>
          </a:solidFill>
          <a:ln>
            <a:noFill/>
          </a:ln>
        </p:spPr>
      </p:sp>
      <p:sp>
        <p:nvSpPr>
          <p:cNvPr id="16" name="card-text"/>
          <p:cNvSpPr/>
          <p:nvPr/>
        </p:nvSpPr>
        <p:spPr>
          <a:xfrm>
            <a:off x="437997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每題狀態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未開始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練習中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已完成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最佳分數與提交次數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7" name="card"/>
          <p:cNvSpPr/>
          <p:nvPr/>
        </p:nvSpPr>
        <p:spPr>
          <a:xfrm>
            <a:off x="781812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8" name="card-accent"/>
          <p:cNvSpPr/>
          <p:nvPr/>
        </p:nvSpPr>
        <p:spPr>
          <a:xfrm>
            <a:off x="7818120" y="1417320"/>
            <a:ext cx="73152" cy="16916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19" name="card-text"/>
          <p:cNvSpPr/>
          <p:nvPr/>
        </p:nvSpPr>
        <p:spPr>
          <a:xfrm>
            <a:off x="794613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紀錄再利用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查看每次提交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載入過去 XML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回到題目繼續修改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20" name="text"/>
          <p:cNvSpPr/>
          <p:nvPr/>
        </p:nvSpPr>
        <p:spPr>
          <a:xfrm>
            <a:off x="502920" y="6446520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720" dirty="0">
                <a:solidFill>
                  <a:srgbClr val="6F88A6"/>
                </a:solidFill>
                <a:latin typeface="Microsoft JhengHei"/>
                <a:ea typeface="Microsoft JhengHei"/>
                <a:cs typeface="Microsoft JhengHei"/>
              </a:rPr>
              <a:t>宜蘭縣資訊科技創意實作競賽網站功能說明</a:t>
            </a:r>
            <a:endParaRPr lang="zh-TW" sz="720">
              <a:latin typeface="Microsoft JhengHei"/>
              <a:ea typeface="Microsoft JhengHei"/>
            </a:endParaRPr>
          </a:p>
        </p:txBody>
      </p:sp>
      <p:sp>
        <p:nvSpPr>
          <p:cNvPr id="21" name="text"/>
          <p:cNvSpPr/>
          <p:nvPr/>
        </p:nvSpPr>
        <p:spPr>
          <a:xfrm>
            <a:off x="10515600" y="6446520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lang="zh-TW" sz="780" dirty="0">
                <a:solidFill>
                  <a:srgbClr val="8FA8C6"/>
                </a:solidFill>
                <a:latin typeface="Microsoft JhengHei"/>
                <a:ea typeface="Microsoft JhengHei"/>
                <a:cs typeface="Microsoft JhengHei"/>
              </a:rPr>
              <a:t>10/25</a:t>
            </a:r>
            <a:endParaRPr lang="zh-TW" sz="780">
              <a:latin typeface="Microsoft JhengHei"/>
              <a:ea typeface="Microsoft Jheng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2"/>
          </a:solidFill>
          <a:ln>
            <a:noFill/>
          </a:ln>
        </p:spPr>
      </p:sp>
      <p:sp>
        <p:nvSpPr>
          <p:cNvPr id="3" name="glow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5" name="orb1"/>
          <p:cNvSpPr/>
          <p:nvPr/>
        </p:nvSpPr>
        <p:spPr>
          <a:xfrm>
            <a:off x="9784080" y="-228600"/>
            <a:ext cx="2103120" cy="2103120"/>
          </a:xfrm>
          <a:prstGeom prst="ellipse">
            <a:avLst/>
          </a:prstGeom>
          <a:solidFill>
            <a:srgbClr val="38D5FF">
              <a:alpha val="16000"/>
            </a:srgbClr>
          </a:solidFill>
          <a:ln>
            <a:noFill/>
          </a:ln>
        </p:spPr>
      </p:sp>
      <p:sp>
        <p:nvSpPr>
          <p:cNvPr id="6" name="orb2"/>
          <p:cNvSpPr/>
          <p:nvPr/>
        </p:nvSpPr>
        <p:spPr>
          <a:xfrm>
            <a:off x="10607040" y="5257800"/>
            <a:ext cx="1280160" cy="1280160"/>
          </a:xfrm>
          <a:prstGeom prst="ellipse">
            <a:avLst/>
          </a:prstGeom>
          <a:solidFill>
            <a:srgbClr val="A78BFA">
              <a:alpha val="18000"/>
            </a:srgbClr>
          </a:solidFill>
          <a:ln>
            <a:noFill/>
          </a:ln>
        </p:spPr>
      </p:sp>
      <p:sp>
        <p:nvSpPr>
          <p:cNvPr id="7" name="text"/>
          <p:cNvSpPr/>
          <p:nvPr/>
        </p:nvSpPr>
        <p:spPr>
          <a:xfrm>
            <a:off x="502920" y="22860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950" b="1" dirty="0">
                <a:solidFill>
                  <a:srgbClr val="38D5FF"/>
                </a:solidFill>
                <a:latin typeface="Microsoft JhengHei"/>
                <a:ea typeface="Microsoft JhengHei"/>
                <a:cs typeface="Microsoft JhengHei"/>
              </a:rPr>
              <a:t>現況功能</a:t>
            </a:r>
            <a:endParaRPr lang="zh-TW" sz="950">
              <a:latin typeface="Microsoft JhengHei"/>
              <a:ea typeface="Microsoft JhengHei"/>
            </a:endParaRPr>
          </a:p>
        </p:txBody>
      </p:sp>
      <p:sp>
        <p:nvSpPr>
          <p:cNvPr id="8" name="text"/>
          <p:cNvSpPr/>
          <p:nvPr/>
        </p:nvSpPr>
        <p:spPr>
          <a:xfrm>
            <a:off x="502920" y="466344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230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排行榜</a:t>
            </a:r>
            <a:endParaRPr lang="zh-TW" sz="2300">
              <a:latin typeface="Microsoft JhengHei"/>
              <a:ea typeface="Microsoft JhengHei"/>
            </a:endParaRPr>
          </a:p>
        </p:txBody>
      </p:sp>
      <p:sp>
        <p:nvSpPr>
          <p:cNvPr id="9" name="text"/>
          <p:cNvSpPr/>
          <p:nvPr/>
        </p:nvSpPr>
        <p:spPr>
          <a:xfrm>
            <a:off x="530352" y="93268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105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目前以全站總排行榜為主要呈現，系統也保存各題排行榜快取。</a:t>
            </a:r>
            <a:endParaRPr lang="zh-TW" sz="1050">
              <a:latin typeface="Microsoft JhengHei"/>
              <a:ea typeface="Microsoft JhengHei"/>
            </a:endParaRPr>
          </a:p>
        </p:txBody>
      </p:sp>
      <p:sp>
        <p:nvSpPr>
          <p:cNvPr id="10" name="rule"/>
          <p:cNvSpPr/>
          <p:nvPr/>
        </p:nvSpPr>
        <p:spPr>
          <a:xfrm>
            <a:off x="502920" y="1225296"/>
            <a:ext cx="10881360" cy="18288"/>
          </a:xfrm>
          <a:prstGeom prst="rect">
            <a:avLst/>
          </a:prstGeom>
          <a:solidFill>
            <a:srgbClr val="38D5FF">
              <a:alpha val="60000"/>
            </a:srgbClr>
          </a:solidFill>
          <a:ln>
            <a:noFill/>
          </a:ln>
        </p:spPr>
      </p:sp>
      <p:sp>
        <p:nvSpPr>
          <p:cNvPr id="11" name="card"/>
          <p:cNvSpPr/>
          <p:nvPr/>
        </p:nvSpPr>
        <p:spPr>
          <a:xfrm>
            <a:off x="68580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2" name="card-accent"/>
          <p:cNvSpPr/>
          <p:nvPr/>
        </p:nvSpPr>
        <p:spPr>
          <a:xfrm>
            <a:off x="685800" y="1417320"/>
            <a:ext cx="73152" cy="1691640"/>
          </a:xfrm>
          <a:prstGeom prst="round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13" name="card-text"/>
          <p:cNvSpPr/>
          <p:nvPr/>
        </p:nvSpPr>
        <p:spPr>
          <a:xfrm>
            <a:off x="81381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全站總排行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依所有已發布題目彙整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顯示總分、完成題數與通過率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登入使用者提交後更新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4" name="card"/>
          <p:cNvSpPr/>
          <p:nvPr/>
        </p:nvSpPr>
        <p:spPr>
          <a:xfrm>
            <a:off x="425196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5" name="card-accent"/>
          <p:cNvSpPr/>
          <p:nvPr/>
        </p:nvSpPr>
        <p:spPr>
          <a:xfrm>
            <a:off x="4251960" y="1417320"/>
            <a:ext cx="73152" cy="1691640"/>
          </a:xfrm>
          <a:prstGeom prst="roundRect">
            <a:avLst/>
          </a:prstGeom>
          <a:solidFill>
            <a:srgbClr val="3DDC97"/>
          </a:solidFill>
          <a:ln>
            <a:noFill/>
          </a:ln>
        </p:spPr>
      </p:sp>
      <p:sp>
        <p:nvSpPr>
          <p:cNvPr id="16" name="card-text"/>
          <p:cNvSpPr/>
          <p:nvPr/>
        </p:nvSpPr>
        <p:spPr>
          <a:xfrm>
            <a:off x="437997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排序邏輯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通過率優先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完成題數與總分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完成時間與提交次數作為同分判斷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7" name="card"/>
          <p:cNvSpPr/>
          <p:nvPr/>
        </p:nvSpPr>
        <p:spPr>
          <a:xfrm>
            <a:off x="781812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8" name="card-accent"/>
          <p:cNvSpPr/>
          <p:nvPr/>
        </p:nvSpPr>
        <p:spPr>
          <a:xfrm>
            <a:off x="7818120" y="1417320"/>
            <a:ext cx="73152" cy="16916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19" name="card-text"/>
          <p:cNvSpPr/>
          <p:nvPr/>
        </p:nvSpPr>
        <p:spPr>
          <a:xfrm>
            <a:off x="794613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排名快取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Firestore 保存排行榜文件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本機示範模式用 localStorage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刪除使用者時可同步清除排名資料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20" name="card"/>
          <p:cNvSpPr/>
          <p:nvPr/>
        </p:nvSpPr>
        <p:spPr>
          <a:xfrm>
            <a:off x="960120" y="4892040"/>
            <a:ext cx="10149840" cy="749808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21" name="card-accent"/>
          <p:cNvSpPr/>
          <p:nvPr/>
        </p:nvSpPr>
        <p:spPr>
          <a:xfrm>
            <a:off x="960120" y="4892040"/>
            <a:ext cx="73152" cy="749808"/>
          </a:xfrm>
          <a:prstGeom prst="round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22" name="card-text"/>
          <p:cNvSpPr/>
          <p:nvPr/>
        </p:nvSpPr>
        <p:spPr>
          <a:xfrm>
            <a:off x="1088136" y="4946904"/>
            <a:ext cx="9948672" cy="65836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重點提醒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未來排行榜應分成練習、正式賽、校內、校際與 PK 戰績，避免不同情境混在一起。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23" name="text"/>
          <p:cNvSpPr/>
          <p:nvPr/>
        </p:nvSpPr>
        <p:spPr>
          <a:xfrm>
            <a:off x="502920" y="6446520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720" dirty="0">
                <a:solidFill>
                  <a:srgbClr val="6F88A6"/>
                </a:solidFill>
                <a:latin typeface="Microsoft JhengHei"/>
                <a:ea typeface="Microsoft JhengHei"/>
                <a:cs typeface="Microsoft JhengHei"/>
              </a:rPr>
              <a:t>宜蘭縣資訊科技創意實作競賽網站功能說明</a:t>
            </a:r>
            <a:endParaRPr lang="zh-TW" sz="720">
              <a:latin typeface="Microsoft JhengHei"/>
              <a:ea typeface="Microsoft JhengHei"/>
            </a:endParaRPr>
          </a:p>
        </p:txBody>
      </p:sp>
      <p:sp>
        <p:nvSpPr>
          <p:cNvPr id="24" name="text"/>
          <p:cNvSpPr/>
          <p:nvPr/>
        </p:nvSpPr>
        <p:spPr>
          <a:xfrm>
            <a:off x="10515600" y="6446520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lang="zh-TW" sz="780" dirty="0">
                <a:solidFill>
                  <a:srgbClr val="8FA8C6"/>
                </a:solidFill>
                <a:latin typeface="Microsoft JhengHei"/>
                <a:ea typeface="Microsoft JhengHei"/>
                <a:cs typeface="Microsoft JhengHei"/>
              </a:rPr>
              <a:t>11/25</a:t>
            </a:r>
            <a:endParaRPr lang="zh-TW" sz="780">
              <a:latin typeface="Microsoft JhengHei"/>
              <a:ea typeface="Microsoft JhengHe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2"/>
          </a:solidFill>
          <a:ln>
            <a:noFill/>
          </a:ln>
        </p:spPr>
      </p:sp>
      <p:sp>
        <p:nvSpPr>
          <p:cNvPr id="3" name="glow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5" name="orb1"/>
          <p:cNvSpPr/>
          <p:nvPr/>
        </p:nvSpPr>
        <p:spPr>
          <a:xfrm>
            <a:off x="9784080" y="-228600"/>
            <a:ext cx="2103120" cy="2103120"/>
          </a:xfrm>
          <a:prstGeom prst="ellipse">
            <a:avLst/>
          </a:prstGeom>
          <a:solidFill>
            <a:srgbClr val="38D5FF">
              <a:alpha val="16000"/>
            </a:srgbClr>
          </a:solidFill>
          <a:ln>
            <a:noFill/>
          </a:ln>
        </p:spPr>
      </p:sp>
      <p:sp>
        <p:nvSpPr>
          <p:cNvPr id="6" name="orb2"/>
          <p:cNvSpPr/>
          <p:nvPr/>
        </p:nvSpPr>
        <p:spPr>
          <a:xfrm>
            <a:off x="10607040" y="5257800"/>
            <a:ext cx="1280160" cy="1280160"/>
          </a:xfrm>
          <a:prstGeom prst="ellipse">
            <a:avLst/>
          </a:prstGeom>
          <a:solidFill>
            <a:srgbClr val="A78BFA">
              <a:alpha val="18000"/>
            </a:srgbClr>
          </a:solidFill>
          <a:ln>
            <a:noFill/>
          </a:ln>
        </p:spPr>
      </p:sp>
      <p:sp>
        <p:nvSpPr>
          <p:cNvPr id="7" name="text"/>
          <p:cNvSpPr/>
          <p:nvPr/>
        </p:nvSpPr>
        <p:spPr>
          <a:xfrm>
            <a:off x="502920" y="22860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950" b="1" dirty="0">
                <a:solidFill>
                  <a:srgbClr val="38D5FF"/>
                </a:solidFill>
                <a:latin typeface="Microsoft JhengHei"/>
                <a:ea typeface="Microsoft JhengHei"/>
                <a:cs typeface="Microsoft JhengHei"/>
              </a:rPr>
              <a:t>現況功能</a:t>
            </a:r>
            <a:endParaRPr lang="zh-TW" sz="950">
              <a:latin typeface="Microsoft JhengHei"/>
              <a:ea typeface="Microsoft JhengHei"/>
            </a:endParaRPr>
          </a:p>
        </p:txBody>
      </p:sp>
      <p:sp>
        <p:nvSpPr>
          <p:cNvPr id="8" name="text"/>
          <p:cNvSpPr/>
          <p:nvPr/>
        </p:nvSpPr>
        <p:spPr>
          <a:xfrm>
            <a:off x="502920" y="466344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230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登入與資料保存</a:t>
            </a:r>
            <a:endParaRPr lang="zh-TW" sz="2300">
              <a:latin typeface="Microsoft JhengHei"/>
              <a:ea typeface="Microsoft JhengHei"/>
            </a:endParaRPr>
          </a:p>
        </p:txBody>
      </p:sp>
      <p:sp>
        <p:nvSpPr>
          <p:cNvPr id="9" name="text"/>
          <p:cNvSpPr/>
          <p:nvPr/>
        </p:nvSpPr>
        <p:spPr>
          <a:xfrm>
            <a:off x="530352" y="93268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105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Firebase 與本機模式並存，讓正式資料與展示測試都能運作。</a:t>
            </a:r>
            <a:endParaRPr lang="zh-TW" sz="1050">
              <a:latin typeface="Microsoft JhengHei"/>
              <a:ea typeface="Microsoft JhengHei"/>
            </a:endParaRPr>
          </a:p>
        </p:txBody>
      </p:sp>
      <p:sp>
        <p:nvSpPr>
          <p:cNvPr id="10" name="rule"/>
          <p:cNvSpPr/>
          <p:nvPr/>
        </p:nvSpPr>
        <p:spPr>
          <a:xfrm>
            <a:off x="502920" y="1225296"/>
            <a:ext cx="10881360" cy="18288"/>
          </a:xfrm>
          <a:prstGeom prst="rect">
            <a:avLst/>
          </a:prstGeom>
          <a:solidFill>
            <a:srgbClr val="38D5FF">
              <a:alpha val="60000"/>
            </a:srgbClr>
          </a:solidFill>
          <a:ln>
            <a:noFill/>
          </a:ln>
        </p:spPr>
      </p:sp>
      <p:sp>
        <p:nvSpPr>
          <p:cNvPr id="11" name="card"/>
          <p:cNvSpPr/>
          <p:nvPr/>
        </p:nvSpPr>
        <p:spPr>
          <a:xfrm>
            <a:off x="68580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2" name="card-accent"/>
          <p:cNvSpPr/>
          <p:nvPr/>
        </p:nvSpPr>
        <p:spPr>
          <a:xfrm>
            <a:off x="685800" y="1417320"/>
            <a:ext cx="73152" cy="1691640"/>
          </a:xfrm>
          <a:prstGeom prst="round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13" name="card-text"/>
          <p:cNvSpPr/>
          <p:nvPr/>
        </p:nvSpPr>
        <p:spPr>
          <a:xfrm>
            <a:off x="81381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Google 登入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使用 Firebase Authentication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登入後建立/更新使用者資料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停用帳號會被拒絕使用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4" name="card"/>
          <p:cNvSpPr/>
          <p:nvPr/>
        </p:nvSpPr>
        <p:spPr>
          <a:xfrm>
            <a:off x="425196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5" name="card-accent"/>
          <p:cNvSpPr/>
          <p:nvPr/>
        </p:nvSpPr>
        <p:spPr>
          <a:xfrm>
            <a:off x="4251960" y="1417320"/>
            <a:ext cx="73152" cy="1691640"/>
          </a:xfrm>
          <a:prstGeom prst="roundRect">
            <a:avLst/>
          </a:prstGeom>
          <a:solidFill>
            <a:srgbClr val="3DDC97"/>
          </a:solidFill>
          <a:ln>
            <a:noFill/>
          </a:ln>
        </p:spPr>
      </p:sp>
      <p:sp>
        <p:nvSpPr>
          <p:cNvPr id="16" name="card-text"/>
          <p:cNvSpPr/>
          <p:nvPr/>
        </p:nvSpPr>
        <p:spPr>
          <a:xfrm>
            <a:off x="437997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Firestore 紀錄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users / admins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problems / submissions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userProblemStats / leaderboards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7" name="card"/>
          <p:cNvSpPr/>
          <p:nvPr/>
        </p:nvSpPr>
        <p:spPr>
          <a:xfrm>
            <a:off x="781812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8" name="card-accent"/>
          <p:cNvSpPr/>
          <p:nvPr/>
        </p:nvSpPr>
        <p:spPr>
          <a:xfrm>
            <a:off x="7818120" y="1417320"/>
            <a:ext cx="73152" cy="16916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19" name="card-text"/>
          <p:cNvSpPr/>
          <p:nvPr/>
        </p:nvSpPr>
        <p:spPr>
          <a:xfrm>
            <a:off x="794613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本機備援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無 Firebase 設定仍可展示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題目、提交、排行榜保存於 localStorage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適合 demo 與開發測試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20" name="text"/>
          <p:cNvSpPr/>
          <p:nvPr/>
        </p:nvSpPr>
        <p:spPr>
          <a:xfrm>
            <a:off x="502920" y="6446520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720" dirty="0">
                <a:solidFill>
                  <a:srgbClr val="6F88A6"/>
                </a:solidFill>
                <a:latin typeface="Microsoft JhengHei"/>
                <a:ea typeface="Microsoft JhengHei"/>
                <a:cs typeface="Microsoft JhengHei"/>
              </a:rPr>
              <a:t>宜蘭縣資訊科技創意實作競賽網站功能說明</a:t>
            </a:r>
            <a:endParaRPr lang="zh-TW" sz="720">
              <a:latin typeface="Microsoft JhengHei"/>
              <a:ea typeface="Microsoft JhengHei"/>
            </a:endParaRPr>
          </a:p>
        </p:txBody>
      </p:sp>
      <p:sp>
        <p:nvSpPr>
          <p:cNvPr id="21" name="text"/>
          <p:cNvSpPr/>
          <p:nvPr/>
        </p:nvSpPr>
        <p:spPr>
          <a:xfrm>
            <a:off x="10515600" y="6446520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lang="zh-TW" sz="780" dirty="0">
                <a:solidFill>
                  <a:srgbClr val="8FA8C6"/>
                </a:solidFill>
                <a:latin typeface="Microsoft JhengHei"/>
                <a:ea typeface="Microsoft JhengHei"/>
                <a:cs typeface="Microsoft JhengHei"/>
              </a:rPr>
              <a:t>12/25</a:t>
            </a:r>
            <a:endParaRPr lang="zh-TW" sz="780">
              <a:latin typeface="Microsoft JhengHei"/>
              <a:ea typeface="Microsoft JhengHe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2"/>
          </a:solidFill>
          <a:ln>
            <a:noFill/>
          </a:ln>
        </p:spPr>
      </p:sp>
      <p:sp>
        <p:nvSpPr>
          <p:cNvPr id="3" name="glow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5" name="orb1"/>
          <p:cNvSpPr/>
          <p:nvPr/>
        </p:nvSpPr>
        <p:spPr>
          <a:xfrm>
            <a:off x="9784080" y="-228600"/>
            <a:ext cx="2103120" cy="2103120"/>
          </a:xfrm>
          <a:prstGeom prst="ellipse">
            <a:avLst/>
          </a:prstGeom>
          <a:solidFill>
            <a:srgbClr val="38D5FF">
              <a:alpha val="16000"/>
            </a:srgbClr>
          </a:solidFill>
          <a:ln>
            <a:noFill/>
          </a:ln>
        </p:spPr>
      </p:sp>
      <p:sp>
        <p:nvSpPr>
          <p:cNvPr id="6" name="orb2"/>
          <p:cNvSpPr/>
          <p:nvPr/>
        </p:nvSpPr>
        <p:spPr>
          <a:xfrm>
            <a:off x="10607040" y="5257800"/>
            <a:ext cx="1280160" cy="1280160"/>
          </a:xfrm>
          <a:prstGeom prst="ellipse">
            <a:avLst/>
          </a:prstGeom>
          <a:solidFill>
            <a:srgbClr val="A78BFA">
              <a:alpha val="18000"/>
            </a:srgbClr>
          </a:solidFill>
          <a:ln>
            <a:noFill/>
          </a:ln>
        </p:spPr>
      </p:sp>
      <p:sp>
        <p:nvSpPr>
          <p:cNvPr id="7" name="text"/>
          <p:cNvSpPr/>
          <p:nvPr/>
        </p:nvSpPr>
        <p:spPr>
          <a:xfrm>
            <a:off x="502920" y="22860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950" b="1" dirty="0">
                <a:solidFill>
                  <a:srgbClr val="38D5FF"/>
                </a:solidFill>
                <a:latin typeface="Microsoft JhengHei"/>
                <a:ea typeface="Microsoft JhengHei"/>
                <a:cs typeface="Microsoft JhengHei"/>
              </a:rPr>
              <a:t>現況功能</a:t>
            </a:r>
            <a:endParaRPr lang="zh-TW" sz="950">
              <a:latin typeface="Microsoft JhengHei"/>
              <a:ea typeface="Microsoft JhengHei"/>
            </a:endParaRPr>
          </a:p>
        </p:txBody>
      </p:sp>
      <p:sp>
        <p:nvSpPr>
          <p:cNvPr id="8" name="text"/>
          <p:cNvSpPr/>
          <p:nvPr/>
        </p:nvSpPr>
        <p:spPr>
          <a:xfrm>
            <a:off x="502920" y="466344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230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管理後台總覽</a:t>
            </a:r>
            <a:endParaRPr lang="zh-TW" sz="2300">
              <a:latin typeface="Microsoft JhengHei"/>
              <a:ea typeface="Microsoft JhengHei"/>
            </a:endParaRPr>
          </a:p>
        </p:txBody>
      </p:sp>
      <p:sp>
        <p:nvSpPr>
          <p:cNvPr id="9" name="text"/>
          <p:cNvSpPr/>
          <p:nvPr/>
        </p:nvSpPr>
        <p:spPr>
          <a:xfrm>
            <a:off x="530352" y="93268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105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管理者登入後可進入後台，處理題庫、使用者與解題資料。</a:t>
            </a:r>
            <a:endParaRPr lang="zh-TW" sz="1050">
              <a:latin typeface="Microsoft JhengHei"/>
              <a:ea typeface="Microsoft JhengHei"/>
            </a:endParaRPr>
          </a:p>
        </p:txBody>
      </p:sp>
      <p:sp>
        <p:nvSpPr>
          <p:cNvPr id="10" name="rule"/>
          <p:cNvSpPr/>
          <p:nvPr/>
        </p:nvSpPr>
        <p:spPr>
          <a:xfrm>
            <a:off x="502920" y="1225296"/>
            <a:ext cx="10881360" cy="18288"/>
          </a:xfrm>
          <a:prstGeom prst="rect">
            <a:avLst/>
          </a:prstGeom>
          <a:solidFill>
            <a:srgbClr val="38D5FF">
              <a:alpha val="60000"/>
            </a:srgbClr>
          </a:solidFill>
          <a:ln>
            <a:noFill/>
          </a:ln>
        </p:spPr>
      </p:sp>
      <p:sp>
        <p:nvSpPr>
          <p:cNvPr id="11" name="card"/>
          <p:cNvSpPr/>
          <p:nvPr/>
        </p:nvSpPr>
        <p:spPr>
          <a:xfrm>
            <a:off x="68580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2" name="card-accent"/>
          <p:cNvSpPr/>
          <p:nvPr/>
        </p:nvSpPr>
        <p:spPr>
          <a:xfrm>
            <a:off x="685800" y="1417320"/>
            <a:ext cx="73152" cy="1691640"/>
          </a:xfrm>
          <a:prstGeom prst="round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13" name="card-text"/>
          <p:cNvSpPr/>
          <p:nvPr/>
        </p:nvSpPr>
        <p:spPr>
          <a:xfrm>
            <a:off x="81381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管理者啟用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第一位管理者初始化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管理者清單保存於 admins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非管理者不顯示管理分頁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4" name="card"/>
          <p:cNvSpPr/>
          <p:nvPr/>
        </p:nvSpPr>
        <p:spPr>
          <a:xfrm>
            <a:off x="425196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5" name="card-accent"/>
          <p:cNvSpPr/>
          <p:nvPr/>
        </p:nvSpPr>
        <p:spPr>
          <a:xfrm>
            <a:off x="4251960" y="1417320"/>
            <a:ext cx="73152" cy="1691640"/>
          </a:xfrm>
          <a:prstGeom prst="roundRect">
            <a:avLst/>
          </a:prstGeom>
          <a:solidFill>
            <a:srgbClr val="3DDC97"/>
          </a:solidFill>
          <a:ln>
            <a:noFill/>
          </a:ln>
        </p:spPr>
      </p:sp>
      <p:sp>
        <p:nvSpPr>
          <p:cNvPr id="16" name="card-text"/>
          <p:cNvSpPr/>
          <p:nvPr/>
        </p:nvSpPr>
        <p:spPr>
          <a:xfrm>
            <a:off x="437997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三個後台分區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題目管理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使用者管理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使用者解題資料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7" name="card"/>
          <p:cNvSpPr/>
          <p:nvPr/>
        </p:nvSpPr>
        <p:spPr>
          <a:xfrm>
            <a:off x="781812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8" name="card-accent"/>
          <p:cNvSpPr/>
          <p:nvPr/>
        </p:nvSpPr>
        <p:spPr>
          <a:xfrm>
            <a:off x="7818120" y="1417320"/>
            <a:ext cx="73152" cy="16916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19" name="card-text"/>
          <p:cNvSpPr/>
          <p:nvPr/>
        </p:nvSpPr>
        <p:spPr>
          <a:xfrm>
            <a:off x="794613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資料刷新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讀取所有使用者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讀取所有提交紀錄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讀取全部題目含草稿與封存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20" name="text"/>
          <p:cNvSpPr/>
          <p:nvPr/>
        </p:nvSpPr>
        <p:spPr>
          <a:xfrm>
            <a:off x="502920" y="6446520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720" dirty="0">
                <a:solidFill>
                  <a:srgbClr val="6F88A6"/>
                </a:solidFill>
                <a:latin typeface="Microsoft JhengHei"/>
                <a:ea typeface="Microsoft JhengHei"/>
                <a:cs typeface="Microsoft JhengHei"/>
              </a:rPr>
              <a:t>宜蘭縣資訊科技創意實作競賽網站功能說明</a:t>
            </a:r>
            <a:endParaRPr lang="zh-TW" sz="720">
              <a:latin typeface="Microsoft JhengHei"/>
              <a:ea typeface="Microsoft JhengHei"/>
            </a:endParaRPr>
          </a:p>
        </p:txBody>
      </p:sp>
      <p:sp>
        <p:nvSpPr>
          <p:cNvPr id="21" name="text"/>
          <p:cNvSpPr/>
          <p:nvPr/>
        </p:nvSpPr>
        <p:spPr>
          <a:xfrm>
            <a:off x="10515600" y="6446520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lang="zh-TW" sz="780" dirty="0">
                <a:solidFill>
                  <a:srgbClr val="8FA8C6"/>
                </a:solidFill>
                <a:latin typeface="Microsoft JhengHei"/>
                <a:ea typeface="Microsoft JhengHei"/>
                <a:cs typeface="Microsoft JhengHei"/>
              </a:rPr>
              <a:t>13/25</a:t>
            </a:r>
            <a:endParaRPr lang="zh-TW" sz="780">
              <a:latin typeface="Microsoft JhengHei"/>
              <a:ea typeface="Microsoft JhengHe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2"/>
          </a:solidFill>
          <a:ln>
            <a:noFill/>
          </a:ln>
        </p:spPr>
      </p:sp>
      <p:sp>
        <p:nvSpPr>
          <p:cNvPr id="3" name="glow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5" name="orb1"/>
          <p:cNvSpPr/>
          <p:nvPr/>
        </p:nvSpPr>
        <p:spPr>
          <a:xfrm>
            <a:off x="9784080" y="-228600"/>
            <a:ext cx="2103120" cy="2103120"/>
          </a:xfrm>
          <a:prstGeom prst="ellipse">
            <a:avLst/>
          </a:prstGeom>
          <a:solidFill>
            <a:srgbClr val="38D5FF">
              <a:alpha val="16000"/>
            </a:srgbClr>
          </a:solidFill>
          <a:ln>
            <a:noFill/>
          </a:ln>
        </p:spPr>
      </p:sp>
      <p:sp>
        <p:nvSpPr>
          <p:cNvPr id="6" name="orb2"/>
          <p:cNvSpPr/>
          <p:nvPr/>
        </p:nvSpPr>
        <p:spPr>
          <a:xfrm>
            <a:off x="10607040" y="5257800"/>
            <a:ext cx="1280160" cy="1280160"/>
          </a:xfrm>
          <a:prstGeom prst="ellipse">
            <a:avLst/>
          </a:prstGeom>
          <a:solidFill>
            <a:srgbClr val="A78BFA">
              <a:alpha val="18000"/>
            </a:srgbClr>
          </a:solidFill>
          <a:ln>
            <a:noFill/>
          </a:ln>
        </p:spPr>
      </p:sp>
      <p:sp>
        <p:nvSpPr>
          <p:cNvPr id="7" name="text"/>
          <p:cNvSpPr/>
          <p:nvPr/>
        </p:nvSpPr>
        <p:spPr>
          <a:xfrm>
            <a:off x="502920" y="22860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950" b="1" dirty="0">
                <a:solidFill>
                  <a:srgbClr val="38D5FF"/>
                </a:solidFill>
                <a:latin typeface="Microsoft JhengHei"/>
                <a:ea typeface="Microsoft JhengHei"/>
                <a:cs typeface="Microsoft JhengHei"/>
              </a:rPr>
              <a:t>現況功能</a:t>
            </a:r>
            <a:endParaRPr lang="zh-TW" sz="950">
              <a:latin typeface="Microsoft JhengHei"/>
              <a:ea typeface="Microsoft JhengHei"/>
            </a:endParaRPr>
          </a:p>
        </p:txBody>
      </p:sp>
      <p:sp>
        <p:nvSpPr>
          <p:cNvPr id="8" name="text"/>
          <p:cNvSpPr/>
          <p:nvPr/>
        </p:nvSpPr>
        <p:spPr>
          <a:xfrm>
            <a:off x="502920" y="466344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230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題庫管理</a:t>
            </a:r>
            <a:endParaRPr lang="zh-TW" sz="2300">
              <a:latin typeface="Microsoft JhengHei"/>
              <a:ea typeface="Microsoft JhengHei"/>
            </a:endParaRPr>
          </a:p>
        </p:txBody>
      </p:sp>
      <p:sp>
        <p:nvSpPr>
          <p:cNvPr id="9" name="text"/>
          <p:cNvSpPr/>
          <p:nvPr/>
        </p:nvSpPr>
        <p:spPr>
          <a:xfrm>
            <a:off x="530352" y="93268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105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後台已具備題庫匯入、匯出、編輯與測資管理能力。</a:t>
            </a:r>
            <a:endParaRPr lang="zh-TW" sz="1050">
              <a:latin typeface="Microsoft JhengHei"/>
              <a:ea typeface="Microsoft JhengHei"/>
            </a:endParaRPr>
          </a:p>
        </p:txBody>
      </p:sp>
      <p:sp>
        <p:nvSpPr>
          <p:cNvPr id="10" name="rule"/>
          <p:cNvSpPr/>
          <p:nvPr/>
        </p:nvSpPr>
        <p:spPr>
          <a:xfrm>
            <a:off x="502920" y="1225296"/>
            <a:ext cx="10881360" cy="18288"/>
          </a:xfrm>
          <a:prstGeom prst="rect">
            <a:avLst/>
          </a:prstGeom>
          <a:solidFill>
            <a:srgbClr val="38D5FF">
              <a:alpha val="60000"/>
            </a:srgbClr>
          </a:solidFill>
          <a:ln>
            <a:noFill/>
          </a:ln>
        </p:spPr>
      </p:sp>
      <p:sp>
        <p:nvSpPr>
          <p:cNvPr id="11" name="card"/>
          <p:cNvSpPr/>
          <p:nvPr/>
        </p:nvSpPr>
        <p:spPr>
          <a:xfrm>
            <a:off x="68580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2" name="card-accent"/>
          <p:cNvSpPr/>
          <p:nvPr/>
        </p:nvSpPr>
        <p:spPr>
          <a:xfrm>
            <a:off x="685800" y="1417320"/>
            <a:ext cx="73152" cy="1691640"/>
          </a:xfrm>
          <a:prstGeom prst="round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13" name="card-text"/>
          <p:cNvSpPr/>
          <p:nvPr/>
        </p:nvSpPr>
        <p:spPr>
          <a:xfrm>
            <a:off x="81381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匯入與匯出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JSON 匯入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CSV 匯入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CSV 範本/匯出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append / overwrite 模式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4" name="card"/>
          <p:cNvSpPr/>
          <p:nvPr/>
        </p:nvSpPr>
        <p:spPr>
          <a:xfrm>
            <a:off x="425196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5" name="card-accent"/>
          <p:cNvSpPr/>
          <p:nvPr/>
        </p:nvSpPr>
        <p:spPr>
          <a:xfrm>
            <a:off x="4251960" y="1417320"/>
            <a:ext cx="73152" cy="1691640"/>
          </a:xfrm>
          <a:prstGeom prst="roundRect">
            <a:avLst/>
          </a:prstGeom>
          <a:solidFill>
            <a:srgbClr val="3DDC97"/>
          </a:solidFill>
          <a:ln>
            <a:noFill/>
          </a:ln>
        </p:spPr>
      </p:sp>
      <p:sp>
        <p:nvSpPr>
          <p:cNvPr id="16" name="card-text"/>
          <p:cNvSpPr/>
          <p:nvPr/>
        </p:nvSpPr>
        <p:spPr>
          <a:xfrm>
            <a:off x="437997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題目欄位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ID、年度、分類、標題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難度、狀態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題目說明、輸入/輸出格式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7" name="card"/>
          <p:cNvSpPr/>
          <p:nvPr/>
        </p:nvSpPr>
        <p:spPr>
          <a:xfrm>
            <a:off x="781812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8" name="card-accent"/>
          <p:cNvSpPr/>
          <p:nvPr/>
        </p:nvSpPr>
        <p:spPr>
          <a:xfrm>
            <a:off x="7818120" y="1417320"/>
            <a:ext cx="73152" cy="16916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19" name="card-text"/>
          <p:cNvSpPr/>
          <p:nvPr/>
        </p:nvSpPr>
        <p:spPr>
          <a:xfrm>
            <a:off x="794613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測資維護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範例輸入/輸出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正式測資群組、名稱、分數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public / hidden 可見性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20" name="card"/>
          <p:cNvSpPr/>
          <p:nvPr/>
        </p:nvSpPr>
        <p:spPr>
          <a:xfrm>
            <a:off x="960120" y="4892040"/>
            <a:ext cx="10149840" cy="749808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21" name="card-accent"/>
          <p:cNvSpPr/>
          <p:nvPr/>
        </p:nvSpPr>
        <p:spPr>
          <a:xfrm>
            <a:off x="960120" y="4892040"/>
            <a:ext cx="73152" cy="749808"/>
          </a:xfrm>
          <a:prstGeom prst="round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22" name="card-text"/>
          <p:cNvSpPr/>
          <p:nvPr/>
        </p:nvSpPr>
        <p:spPr>
          <a:xfrm>
            <a:off x="1088136" y="4946904"/>
            <a:ext cx="9948672" cy="65836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重點提醒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已有提交紀錄的題目不可直接刪除；建議改為 draft 或 archived，保留歷史紀錄一致性。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23" name="text"/>
          <p:cNvSpPr/>
          <p:nvPr/>
        </p:nvSpPr>
        <p:spPr>
          <a:xfrm>
            <a:off x="502920" y="6446520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720" dirty="0">
                <a:solidFill>
                  <a:srgbClr val="6F88A6"/>
                </a:solidFill>
                <a:latin typeface="Microsoft JhengHei"/>
                <a:ea typeface="Microsoft JhengHei"/>
                <a:cs typeface="Microsoft JhengHei"/>
              </a:rPr>
              <a:t>宜蘭縣資訊科技創意實作競賽網站功能說明</a:t>
            </a:r>
            <a:endParaRPr lang="zh-TW" sz="720">
              <a:latin typeface="Microsoft JhengHei"/>
              <a:ea typeface="Microsoft JhengHei"/>
            </a:endParaRPr>
          </a:p>
        </p:txBody>
      </p:sp>
      <p:sp>
        <p:nvSpPr>
          <p:cNvPr id="24" name="text"/>
          <p:cNvSpPr/>
          <p:nvPr/>
        </p:nvSpPr>
        <p:spPr>
          <a:xfrm>
            <a:off x="10515600" y="6446520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lang="zh-TW" sz="780" dirty="0">
                <a:solidFill>
                  <a:srgbClr val="8FA8C6"/>
                </a:solidFill>
                <a:latin typeface="Microsoft JhengHei"/>
                <a:ea typeface="Microsoft JhengHei"/>
                <a:cs typeface="Microsoft JhengHei"/>
              </a:rPr>
              <a:t>14/25</a:t>
            </a:r>
            <a:endParaRPr lang="zh-TW" sz="780">
              <a:latin typeface="Microsoft JhengHei"/>
              <a:ea typeface="Microsoft JhengHe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2"/>
          </a:solidFill>
          <a:ln>
            <a:noFill/>
          </a:ln>
        </p:spPr>
      </p:sp>
      <p:sp>
        <p:nvSpPr>
          <p:cNvPr id="3" name="glow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5" name="orb1"/>
          <p:cNvSpPr/>
          <p:nvPr/>
        </p:nvSpPr>
        <p:spPr>
          <a:xfrm>
            <a:off x="9784080" y="-228600"/>
            <a:ext cx="2103120" cy="2103120"/>
          </a:xfrm>
          <a:prstGeom prst="ellipse">
            <a:avLst/>
          </a:prstGeom>
          <a:solidFill>
            <a:srgbClr val="38D5FF">
              <a:alpha val="16000"/>
            </a:srgbClr>
          </a:solidFill>
          <a:ln>
            <a:noFill/>
          </a:ln>
        </p:spPr>
      </p:sp>
      <p:sp>
        <p:nvSpPr>
          <p:cNvPr id="6" name="orb2"/>
          <p:cNvSpPr/>
          <p:nvPr/>
        </p:nvSpPr>
        <p:spPr>
          <a:xfrm>
            <a:off x="10607040" y="5257800"/>
            <a:ext cx="1280160" cy="1280160"/>
          </a:xfrm>
          <a:prstGeom prst="ellipse">
            <a:avLst/>
          </a:prstGeom>
          <a:solidFill>
            <a:srgbClr val="A78BFA">
              <a:alpha val="18000"/>
            </a:srgbClr>
          </a:solidFill>
          <a:ln>
            <a:noFill/>
          </a:ln>
        </p:spPr>
      </p:sp>
      <p:sp>
        <p:nvSpPr>
          <p:cNvPr id="7" name="text"/>
          <p:cNvSpPr/>
          <p:nvPr/>
        </p:nvSpPr>
        <p:spPr>
          <a:xfrm>
            <a:off x="502920" y="22860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950" b="1" dirty="0">
                <a:solidFill>
                  <a:srgbClr val="38D5FF"/>
                </a:solidFill>
                <a:latin typeface="Microsoft JhengHei"/>
                <a:ea typeface="Microsoft JhengHei"/>
                <a:cs typeface="Microsoft JhengHei"/>
              </a:rPr>
              <a:t>現況功能</a:t>
            </a:r>
            <a:endParaRPr lang="zh-TW" sz="950">
              <a:latin typeface="Microsoft JhengHei"/>
              <a:ea typeface="Microsoft JhengHei"/>
            </a:endParaRPr>
          </a:p>
        </p:txBody>
      </p:sp>
      <p:sp>
        <p:nvSpPr>
          <p:cNvPr id="8" name="text"/>
          <p:cNvSpPr/>
          <p:nvPr/>
        </p:nvSpPr>
        <p:spPr>
          <a:xfrm>
            <a:off x="502920" y="466344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230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使用者管理</a:t>
            </a:r>
            <a:endParaRPr lang="zh-TW" sz="2300">
              <a:latin typeface="Microsoft JhengHei"/>
              <a:ea typeface="Microsoft JhengHei"/>
            </a:endParaRPr>
          </a:p>
        </p:txBody>
      </p:sp>
      <p:sp>
        <p:nvSpPr>
          <p:cNvPr id="9" name="text"/>
          <p:cNvSpPr/>
          <p:nvPr/>
        </p:nvSpPr>
        <p:spPr>
          <a:xfrm>
            <a:off x="530352" y="93268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105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管理者可管理使用者身分、狀態與紀錄，支援基本營運維護。</a:t>
            </a:r>
            <a:endParaRPr lang="zh-TW" sz="1050">
              <a:latin typeface="Microsoft JhengHei"/>
              <a:ea typeface="Microsoft JhengHei"/>
            </a:endParaRPr>
          </a:p>
        </p:txBody>
      </p:sp>
      <p:sp>
        <p:nvSpPr>
          <p:cNvPr id="10" name="rule"/>
          <p:cNvSpPr/>
          <p:nvPr/>
        </p:nvSpPr>
        <p:spPr>
          <a:xfrm>
            <a:off x="502920" y="1225296"/>
            <a:ext cx="10881360" cy="18288"/>
          </a:xfrm>
          <a:prstGeom prst="rect">
            <a:avLst/>
          </a:prstGeom>
          <a:solidFill>
            <a:srgbClr val="38D5FF">
              <a:alpha val="60000"/>
            </a:srgbClr>
          </a:solidFill>
          <a:ln>
            <a:noFill/>
          </a:ln>
        </p:spPr>
      </p:sp>
      <p:sp>
        <p:nvSpPr>
          <p:cNvPr id="11" name="card"/>
          <p:cNvSpPr/>
          <p:nvPr/>
        </p:nvSpPr>
        <p:spPr>
          <a:xfrm>
            <a:off x="68580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2" name="card-accent"/>
          <p:cNvSpPr/>
          <p:nvPr/>
        </p:nvSpPr>
        <p:spPr>
          <a:xfrm>
            <a:off x="685800" y="1417320"/>
            <a:ext cx="73152" cy="1691640"/>
          </a:xfrm>
          <a:prstGeom prst="round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13" name="card-text"/>
          <p:cNvSpPr/>
          <p:nvPr/>
        </p:nvSpPr>
        <p:spPr>
          <a:xfrm>
            <a:off x="81381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使用者列表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姓名與 Email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最近登入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提交數量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目前角色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4" name="card"/>
          <p:cNvSpPr/>
          <p:nvPr/>
        </p:nvSpPr>
        <p:spPr>
          <a:xfrm>
            <a:off x="425196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5" name="card-accent"/>
          <p:cNvSpPr/>
          <p:nvPr/>
        </p:nvSpPr>
        <p:spPr>
          <a:xfrm>
            <a:off x="4251960" y="1417320"/>
            <a:ext cx="73152" cy="1691640"/>
          </a:xfrm>
          <a:prstGeom prst="roundRect">
            <a:avLst/>
          </a:prstGeom>
          <a:solidFill>
            <a:srgbClr val="3DDC97"/>
          </a:solidFill>
          <a:ln>
            <a:noFill/>
          </a:ln>
        </p:spPr>
      </p:sp>
      <p:sp>
        <p:nvSpPr>
          <p:cNvPr id="16" name="card-text"/>
          <p:cNvSpPr/>
          <p:nvPr/>
        </p:nvSpPr>
        <p:spPr>
          <a:xfrm>
            <a:off x="437997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權限操作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設為管理者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改為一般使用者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避免停用/刪除自己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7" name="card"/>
          <p:cNvSpPr/>
          <p:nvPr/>
        </p:nvSpPr>
        <p:spPr>
          <a:xfrm>
            <a:off x="781812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8" name="card-accent"/>
          <p:cNvSpPr/>
          <p:nvPr/>
        </p:nvSpPr>
        <p:spPr>
          <a:xfrm>
            <a:off x="7818120" y="1417320"/>
            <a:ext cx="73152" cy="1691640"/>
          </a:xfrm>
          <a:prstGeom prst="roundRect">
            <a:avLst/>
          </a:prstGeom>
          <a:solidFill>
            <a:srgbClr val="FB7185"/>
          </a:solidFill>
          <a:ln>
            <a:noFill/>
          </a:ln>
        </p:spPr>
      </p:sp>
      <p:sp>
        <p:nvSpPr>
          <p:cNvPr id="19" name="card-text"/>
          <p:cNvSpPr/>
          <p:nvPr/>
        </p:nvSpPr>
        <p:spPr>
          <a:xfrm>
            <a:off x="794613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帳號狀態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啟用 / 停用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清除答題紀錄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刪除使用者並清理相關資料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20" name="card"/>
          <p:cNvSpPr/>
          <p:nvPr/>
        </p:nvSpPr>
        <p:spPr>
          <a:xfrm>
            <a:off x="960120" y="4892040"/>
            <a:ext cx="10149840" cy="749808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21" name="card-accent"/>
          <p:cNvSpPr/>
          <p:nvPr/>
        </p:nvSpPr>
        <p:spPr>
          <a:xfrm>
            <a:off x="960120" y="4892040"/>
            <a:ext cx="73152" cy="749808"/>
          </a:xfrm>
          <a:prstGeom prst="round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22" name="card-text"/>
          <p:cNvSpPr/>
          <p:nvPr/>
        </p:nvSpPr>
        <p:spPr>
          <a:xfrm>
            <a:off x="1088136" y="4946904"/>
            <a:ext cx="9948672" cy="65836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重點提醒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若進入正式賽，還需要學校、年級、組別與名單匯入機制。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23" name="text"/>
          <p:cNvSpPr/>
          <p:nvPr/>
        </p:nvSpPr>
        <p:spPr>
          <a:xfrm>
            <a:off x="502920" y="6446520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720" dirty="0">
                <a:solidFill>
                  <a:srgbClr val="6F88A6"/>
                </a:solidFill>
                <a:latin typeface="Microsoft JhengHei"/>
                <a:ea typeface="Microsoft JhengHei"/>
                <a:cs typeface="Microsoft JhengHei"/>
              </a:rPr>
              <a:t>宜蘭縣資訊科技創意實作競賽網站功能說明</a:t>
            </a:r>
            <a:endParaRPr lang="zh-TW" sz="720">
              <a:latin typeface="Microsoft JhengHei"/>
              <a:ea typeface="Microsoft JhengHei"/>
            </a:endParaRPr>
          </a:p>
        </p:txBody>
      </p:sp>
      <p:sp>
        <p:nvSpPr>
          <p:cNvPr id="24" name="text"/>
          <p:cNvSpPr/>
          <p:nvPr/>
        </p:nvSpPr>
        <p:spPr>
          <a:xfrm>
            <a:off x="10515600" y="6446520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lang="zh-TW" sz="780" dirty="0">
                <a:solidFill>
                  <a:srgbClr val="8FA8C6"/>
                </a:solidFill>
                <a:latin typeface="Microsoft JhengHei"/>
                <a:ea typeface="Microsoft JhengHei"/>
                <a:cs typeface="Microsoft JhengHei"/>
              </a:rPr>
              <a:t>15/25</a:t>
            </a:r>
            <a:endParaRPr lang="zh-TW" sz="780">
              <a:latin typeface="Microsoft JhengHei"/>
              <a:ea typeface="Microsoft JhengHe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2"/>
          </a:solidFill>
          <a:ln>
            <a:noFill/>
          </a:ln>
        </p:spPr>
      </p:sp>
      <p:sp>
        <p:nvSpPr>
          <p:cNvPr id="3" name="glow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5" name="orb1"/>
          <p:cNvSpPr/>
          <p:nvPr/>
        </p:nvSpPr>
        <p:spPr>
          <a:xfrm>
            <a:off x="9784080" y="-228600"/>
            <a:ext cx="2103120" cy="2103120"/>
          </a:xfrm>
          <a:prstGeom prst="ellipse">
            <a:avLst/>
          </a:prstGeom>
          <a:solidFill>
            <a:srgbClr val="38D5FF">
              <a:alpha val="16000"/>
            </a:srgbClr>
          </a:solidFill>
          <a:ln>
            <a:noFill/>
          </a:ln>
        </p:spPr>
      </p:sp>
      <p:sp>
        <p:nvSpPr>
          <p:cNvPr id="6" name="orb2"/>
          <p:cNvSpPr/>
          <p:nvPr/>
        </p:nvSpPr>
        <p:spPr>
          <a:xfrm>
            <a:off x="10607040" y="5257800"/>
            <a:ext cx="1280160" cy="1280160"/>
          </a:xfrm>
          <a:prstGeom prst="ellipse">
            <a:avLst/>
          </a:prstGeom>
          <a:solidFill>
            <a:srgbClr val="A78BFA">
              <a:alpha val="18000"/>
            </a:srgbClr>
          </a:solidFill>
          <a:ln>
            <a:noFill/>
          </a:ln>
        </p:spPr>
      </p:sp>
      <p:sp>
        <p:nvSpPr>
          <p:cNvPr id="7" name="text"/>
          <p:cNvSpPr/>
          <p:nvPr/>
        </p:nvSpPr>
        <p:spPr>
          <a:xfrm>
            <a:off x="502920" y="22860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950" b="1" dirty="0">
                <a:solidFill>
                  <a:srgbClr val="38D5FF"/>
                </a:solidFill>
                <a:latin typeface="Microsoft JhengHei"/>
                <a:ea typeface="Microsoft JhengHei"/>
                <a:cs typeface="Microsoft JhengHei"/>
              </a:rPr>
              <a:t>現況功能</a:t>
            </a:r>
            <a:endParaRPr lang="zh-TW" sz="950">
              <a:latin typeface="Microsoft JhengHei"/>
              <a:ea typeface="Microsoft JhengHei"/>
            </a:endParaRPr>
          </a:p>
        </p:txBody>
      </p:sp>
      <p:sp>
        <p:nvSpPr>
          <p:cNvPr id="8" name="text"/>
          <p:cNvSpPr/>
          <p:nvPr/>
        </p:nvSpPr>
        <p:spPr>
          <a:xfrm>
            <a:off x="502920" y="466344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230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使用者解題資料</a:t>
            </a:r>
            <a:endParaRPr lang="zh-TW" sz="2300">
              <a:latin typeface="Microsoft JhengHei"/>
              <a:ea typeface="Microsoft JhengHei"/>
            </a:endParaRPr>
          </a:p>
        </p:txBody>
      </p:sp>
      <p:sp>
        <p:nvSpPr>
          <p:cNvPr id="9" name="text"/>
          <p:cNvSpPr/>
          <p:nvPr/>
        </p:nvSpPr>
        <p:spPr>
          <a:xfrm>
            <a:off x="530352" y="93268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105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後台可看見全站使用者的答題狀態，已具備儀表板雛形。</a:t>
            </a:r>
            <a:endParaRPr lang="zh-TW" sz="1050">
              <a:latin typeface="Microsoft JhengHei"/>
              <a:ea typeface="Microsoft JhengHei"/>
            </a:endParaRPr>
          </a:p>
        </p:txBody>
      </p:sp>
      <p:sp>
        <p:nvSpPr>
          <p:cNvPr id="10" name="rule"/>
          <p:cNvSpPr/>
          <p:nvPr/>
        </p:nvSpPr>
        <p:spPr>
          <a:xfrm>
            <a:off x="502920" y="1225296"/>
            <a:ext cx="10881360" cy="18288"/>
          </a:xfrm>
          <a:prstGeom prst="rect">
            <a:avLst/>
          </a:prstGeom>
          <a:solidFill>
            <a:srgbClr val="38D5FF">
              <a:alpha val="60000"/>
            </a:srgbClr>
          </a:solidFill>
          <a:ln>
            <a:noFill/>
          </a:ln>
        </p:spPr>
      </p:sp>
      <p:sp>
        <p:nvSpPr>
          <p:cNvPr id="11" name="card"/>
          <p:cNvSpPr/>
          <p:nvPr/>
        </p:nvSpPr>
        <p:spPr>
          <a:xfrm>
            <a:off x="68580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2" name="card-accent"/>
          <p:cNvSpPr/>
          <p:nvPr/>
        </p:nvSpPr>
        <p:spPr>
          <a:xfrm>
            <a:off x="685800" y="1417320"/>
            <a:ext cx="73152" cy="1691640"/>
          </a:xfrm>
          <a:prstGeom prst="round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13" name="card-text"/>
          <p:cNvSpPr/>
          <p:nvPr/>
        </p:nvSpPr>
        <p:spPr>
          <a:xfrm>
            <a:off x="81381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總覽欄位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使用者與角色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最近登入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完成題數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平均答題率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4" name="card"/>
          <p:cNvSpPr/>
          <p:nvPr/>
        </p:nvSpPr>
        <p:spPr>
          <a:xfrm>
            <a:off x="425196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5" name="card-accent"/>
          <p:cNvSpPr/>
          <p:nvPr/>
        </p:nvSpPr>
        <p:spPr>
          <a:xfrm>
            <a:off x="4251960" y="1417320"/>
            <a:ext cx="73152" cy="1691640"/>
          </a:xfrm>
          <a:prstGeom prst="roundRect">
            <a:avLst/>
          </a:prstGeom>
          <a:solidFill>
            <a:srgbClr val="3DDC97"/>
          </a:solidFill>
          <a:ln>
            <a:noFill/>
          </a:ln>
        </p:spPr>
      </p:sp>
      <p:sp>
        <p:nvSpPr>
          <p:cNvPr id="16" name="card-text"/>
          <p:cNvSpPr/>
          <p:nvPr/>
        </p:nvSpPr>
        <p:spPr>
          <a:xfrm>
            <a:off x="437997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提交觀察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總提交次數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最近提交時間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完成、嘗試、未作答題目摘要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7" name="card"/>
          <p:cNvSpPr/>
          <p:nvPr/>
        </p:nvSpPr>
        <p:spPr>
          <a:xfrm>
            <a:off x="781812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8" name="card-accent"/>
          <p:cNvSpPr/>
          <p:nvPr/>
        </p:nvSpPr>
        <p:spPr>
          <a:xfrm>
            <a:off x="7818120" y="1417320"/>
            <a:ext cx="73152" cy="16916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19" name="card-text"/>
          <p:cNvSpPr/>
          <p:nvPr/>
        </p:nvSpPr>
        <p:spPr>
          <a:xfrm>
            <a:off x="794613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展開明細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每次提交時間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題目名稱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答題率、分數、狀態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20" name="card"/>
          <p:cNvSpPr/>
          <p:nvPr/>
        </p:nvSpPr>
        <p:spPr>
          <a:xfrm>
            <a:off x="960120" y="4892040"/>
            <a:ext cx="10149840" cy="749808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21" name="card-accent"/>
          <p:cNvSpPr/>
          <p:nvPr/>
        </p:nvSpPr>
        <p:spPr>
          <a:xfrm>
            <a:off x="960120" y="4892040"/>
            <a:ext cx="73152" cy="749808"/>
          </a:xfrm>
          <a:prstGeom prst="round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22" name="card-text"/>
          <p:cNvSpPr/>
          <p:nvPr/>
        </p:nvSpPr>
        <p:spPr>
          <a:xfrm>
            <a:off x="1088136" y="4946904"/>
            <a:ext cx="9948672" cy="65836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重點提醒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這個資料面板可升級成正式賽即時監控：登入、作答中、已提交、連線異常與使用時間。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23" name="text"/>
          <p:cNvSpPr/>
          <p:nvPr/>
        </p:nvSpPr>
        <p:spPr>
          <a:xfrm>
            <a:off x="502920" y="6446520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720" dirty="0">
                <a:solidFill>
                  <a:srgbClr val="6F88A6"/>
                </a:solidFill>
                <a:latin typeface="Microsoft JhengHei"/>
                <a:ea typeface="Microsoft JhengHei"/>
                <a:cs typeface="Microsoft JhengHei"/>
              </a:rPr>
              <a:t>宜蘭縣資訊科技創意實作競賽網站功能說明</a:t>
            </a:r>
            <a:endParaRPr lang="zh-TW" sz="720">
              <a:latin typeface="Microsoft JhengHei"/>
              <a:ea typeface="Microsoft JhengHei"/>
            </a:endParaRPr>
          </a:p>
        </p:txBody>
      </p:sp>
      <p:sp>
        <p:nvSpPr>
          <p:cNvPr id="24" name="text"/>
          <p:cNvSpPr/>
          <p:nvPr/>
        </p:nvSpPr>
        <p:spPr>
          <a:xfrm>
            <a:off x="10515600" y="6446520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lang="zh-TW" sz="780" dirty="0">
                <a:solidFill>
                  <a:srgbClr val="8FA8C6"/>
                </a:solidFill>
                <a:latin typeface="Microsoft JhengHei"/>
                <a:ea typeface="Microsoft JhengHei"/>
                <a:cs typeface="Microsoft JhengHei"/>
              </a:rPr>
              <a:t>16/25</a:t>
            </a:r>
            <a:endParaRPr lang="zh-TW" sz="780">
              <a:latin typeface="Microsoft JhengHei"/>
              <a:ea typeface="Microsoft JhengHe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2"/>
          </a:solidFill>
          <a:ln>
            <a:noFill/>
          </a:ln>
        </p:spPr>
      </p:sp>
      <p:sp>
        <p:nvSpPr>
          <p:cNvPr id="3" name="glow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5" name="orb1"/>
          <p:cNvSpPr/>
          <p:nvPr/>
        </p:nvSpPr>
        <p:spPr>
          <a:xfrm>
            <a:off x="9784080" y="-228600"/>
            <a:ext cx="2103120" cy="2103120"/>
          </a:xfrm>
          <a:prstGeom prst="ellipse">
            <a:avLst/>
          </a:prstGeom>
          <a:solidFill>
            <a:srgbClr val="38D5FF">
              <a:alpha val="16000"/>
            </a:srgbClr>
          </a:solidFill>
          <a:ln>
            <a:noFill/>
          </a:ln>
        </p:spPr>
      </p:sp>
      <p:sp>
        <p:nvSpPr>
          <p:cNvPr id="6" name="orb2"/>
          <p:cNvSpPr/>
          <p:nvPr/>
        </p:nvSpPr>
        <p:spPr>
          <a:xfrm>
            <a:off x="10607040" y="5257800"/>
            <a:ext cx="1280160" cy="1280160"/>
          </a:xfrm>
          <a:prstGeom prst="ellipse">
            <a:avLst/>
          </a:prstGeom>
          <a:solidFill>
            <a:srgbClr val="A78BFA">
              <a:alpha val="18000"/>
            </a:srgbClr>
          </a:solidFill>
          <a:ln>
            <a:noFill/>
          </a:ln>
        </p:spPr>
      </p:sp>
      <p:sp>
        <p:nvSpPr>
          <p:cNvPr id="7" name="text"/>
          <p:cNvSpPr/>
          <p:nvPr/>
        </p:nvSpPr>
        <p:spPr>
          <a:xfrm>
            <a:off x="502920" y="22860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950" b="1" dirty="0">
                <a:solidFill>
                  <a:srgbClr val="38D5FF"/>
                </a:solidFill>
                <a:latin typeface="Microsoft JhengHei"/>
                <a:ea typeface="Microsoft JhengHei"/>
                <a:cs typeface="Microsoft JhengHei"/>
              </a:rPr>
              <a:t>現況限制</a:t>
            </a:r>
            <a:endParaRPr lang="zh-TW" sz="950">
              <a:latin typeface="Microsoft JhengHei"/>
              <a:ea typeface="Microsoft JhengHei"/>
            </a:endParaRPr>
          </a:p>
        </p:txBody>
      </p:sp>
      <p:sp>
        <p:nvSpPr>
          <p:cNvPr id="8" name="text"/>
          <p:cNvSpPr/>
          <p:nvPr/>
        </p:nvSpPr>
        <p:spPr>
          <a:xfrm>
            <a:off x="502920" y="466344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230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現況限制與正式競賽差距</a:t>
            </a:r>
            <a:endParaRPr lang="zh-TW" sz="2300">
              <a:latin typeface="Microsoft JhengHei"/>
              <a:ea typeface="Microsoft JhengHei"/>
            </a:endParaRPr>
          </a:p>
        </p:txBody>
      </p:sp>
      <p:sp>
        <p:nvSpPr>
          <p:cNvPr id="9" name="text"/>
          <p:cNvSpPr/>
          <p:nvPr/>
        </p:nvSpPr>
        <p:spPr>
          <a:xfrm>
            <a:off x="530352" y="93268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105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目前版本適合練習、展示與教學；若作為正式賽，需要補上可信任後端。</a:t>
            </a:r>
            <a:endParaRPr lang="zh-TW" sz="1050">
              <a:latin typeface="Microsoft JhengHei"/>
              <a:ea typeface="Microsoft JhengHei"/>
            </a:endParaRPr>
          </a:p>
        </p:txBody>
      </p:sp>
      <p:sp>
        <p:nvSpPr>
          <p:cNvPr id="10" name="rule"/>
          <p:cNvSpPr/>
          <p:nvPr/>
        </p:nvSpPr>
        <p:spPr>
          <a:xfrm>
            <a:off x="502920" y="1225296"/>
            <a:ext cx="10881360" cy="18288"/>
          </a:xfrm>
          <a:prstGeom prst="rect">
            <a:avLst/>
          </a:prstGeom>
          <a:solidFill>
            <a:srgbClr val="38D5FF">
              <a:alpha val="60000"/>
            </a:srgbClr>
          </a:solidFill>
          <a:ln>
            <a:noFill/>
          </a:ln>
        </p:spPr>
      </p:sp>
      <p:sp>
        <p:nvSpPr>
          <p:cNvPr id="11" name="card"/>
          <p:cNvSpPr/>
          <p:nvPr/>
        </p:nvSpPr>
        <p:spPr>
          <a:xfrm>
            <a:off x="68580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2" name="card-accent"/>
          <p:cNvSpPr/>
          <p:nvPr/>
        </p:nvSpPr>
        <p:spPr>
          <a:xfrm>
            <a:off x="685800" y="1417320"/>
            <a:ext cx="73152" cy="1691640"/>
          </a:xfrm>
          <a:prstGeom prst="roundRect">
            <a:avLst/>
          </a:prstGeom>
          <a:solidFill>
            <a:srgbClr val="FB7185"/>
          </a:solidFill>
          <a:ln>
            <a:noFill/>
          </a:ln>
        </p:spPr>
      </p:sp>
      <p:sp>
        <p:nvSpPr>
          <p:cNvPr id="13" name="card-text"/>
          <p:cNvSpPr/>
          <p:nvPr/>
        </p:nvSpPr>
        <p:spPr>
          <a:xfrm>
            <a:off x="81381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計分可信度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評分在前端執行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隱藏測資只是不顯示於介面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不適合承擔正式賽密件測資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4" name="card"/>
          <p:cNvSpPr/>
          <p:nvPr/>
        </p:nvSpPr>
        <p:spPr>
          <a:xfrm>
            <a:off x="425196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5" name="card-accent"/>
          <p:cNvSpPr/>
          <p:nvPr/>
        </p:nvSpPr>
        <p:spPr>
          <a:xfrm>
            <a:off x="4251960" y="1417320"/>
            <a:ext cx="73152" cy="16916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6" name="card-text"/>
          <p:cNvSpPr/>
          <p:nvPr/>
        </p:nvSpPr>
        <p:spPr>
          <a:xfrm>
            <a:off x="437997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排名可信度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排行榜由前端更新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已啟用帳號可寫入 leaderboard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正式排名需後端計算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7" name="card"/>
          <p:cNvSpPr/>
          <p:nvPr/>
        </p:nvSpPr>
        <p:spPr>
          <a:xfrm>
            <a:off x="781812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8" name="card-accent"/>
          <p:cNvSpPr/>
          <p:nvPr/>
        </p:nvSpPr>
        <p:spPr>
          <a:xfrm>
            <a:off x="7818120" y="1417320"/>
            <a:ext cx="73152" cy="16916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19" name="card-text"/>
          <p:cNvSpPr/>
          <p:nvPr/>
        </p:nvSpPr>
        <p:spPr>
          <a:xfrm>
            <a:off x="794613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賽務能力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尚未有年度賽事生命週期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尚未有名單匯入/報名流程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尚未有暫停、審核、封存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20" name="card"/>
          <p:cNvSpPr/>
          <p:nvPr/>
        </p:nvSpPr>
        <p:spPr>
          <a:xfrm>
            <a:off x="960120" y="4892040"/>
            <a:ext cx="10149840" cy="749808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21" name="card-accent"/>
          <p:cNvSpPr/>
          <p:nvPr/>
        </p:nvSpPr>
        <p:spPr>
          <a:xfrm>
            <a:off x="960120" y="4892040"/>
            <a:ext cx="73152" cy="749808"/>
          </a:xfrm>
          <a:prstGeom prst="roundRect">
            <a:avLst/>
          </a:prstGeom>
          <a:solidFill>
            <a:srgbClr val="FB7185"/>
          </a:solidFill>
          <a:ln>
            <a:noFill/>
          </a:ln>
        </p:spPr>
      </p:sp>
      <p:sp>
        <p:nvSpPr>
          <p:cNvPr id="22" name="card-text"/>
          <p:cNvSpPr/>
          <p:nvPr/>
        </p:nvSpPr>
        <p:spPr>
          <a:xfrm>
            <a:off x="1088136" y="4946904"/>
            <a:ext cx="9948672" cy="65836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重點提醒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正式賽版本應加入伺服器端計時、評分、測資保護、稽核紀錄、重判與成績發布流程。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23" name="text"/>
          <p:cNvSpPr/>
          <p:nvPr/>
        </p:nvSpPr>
        <p:spPr>
          <a:xfrm>
            <a:off x="502920" y="6446520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720" dirty="0">
                <a:solidFill>
                  <a:srgbClr val="6F88A6"/>
                </a:solidFill>
                <a:latin typeface="Microsoft JhengHei"/>
                <a:ea typeface="Microsoft JhengHei"/>
                <a:cs typeface="Microsoft JhengHei"/>
              </a:rPr>
              <a:t>宜蘭縣資訊科技創意實作競賽網站功能說明</a:t>
            </a:r>
            <a:endParaRPr lang="zh-TW" sz="720">
              <a:latin typeface="Microsoft JhengHei"/>
              <a:ea typeface="Microsoft JhengHei"/>
            </a:endParaRPr>
          </a:p>
        </p:txBody>
      </p:sp>
      <p:sp>
        <p:nvSpPr>
          <p:cNvPr id="24" name="text"/>
          <p:cNvSpPr/>
          <p:nvPr/>
        </p:nvSpPr>
        <p:spPr>
          <a:xfrm>
            <a:off x="10515600" y="6446520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lang="zh-TW" sz="780" dirty="0">
                <a:solidFill>
                  <a:srgbClr val="8FA8C6"/>
                </a:solidFill>
                <a:latin typeface="Microsoft JhengHei"/>
                <a:ea typeface="Microsoft JhengHei"/>
                <a:cs typeface="Microsoft JhengHei"/>
              </a:rPr>
              <a:t>17/25</a:t>
            </a:r>
            <a:endParaRPr lang="zh-TW" sz="780">
              <a:latin typeface="Microsoft JhengHei"/>
              <a:ea typeface="Microsoft JhengHe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2"/>
          </a:solidFill>
          <a:ln>
            <a:noFill/>
          </a:ln>
        </p:spPr>
      </p:sp>
      <p:sp>
        <p:nvSpPr>
          <p:cNvPr id="3" name="glow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5" name="orb1"/>
          <p:cNvSpPr/>
          <p:nvPr/>
        </p:nvSpPr>
        <p:spPr>
          <a:xfrm>
            <a:off x="9784080" y="-228600"/>
            <a:ext cx="2103120" cy="2103120"/>
          </a:xfrm>
          <a:prstGeom prst="ellipse">
            <a:avLst/>
          </a:prstGeom>
          <a:solidFill>
            <a:srgbClr val="38D5FF">
              <a:alpha val="16000"/>
            </a:srgbClr>
          </a:solidFill>
          <a:ln>
            <a:noFill/>
          </a:ln>
        </p:spPr>
      </p:sp>
      <p:sp>
        <p:nvSpPr>
          <p:cNvPr id="6" name="orb2"/>
          <p:cNvSpPr/>
          <p:nvPr/>
        </p:nvSpPr>
        <p:spPr>
          <a:xfrm>
            <a:off x="10607040" y="5257800"/>
            <a:ext cx="1280160" cy="1280160"/>
          </a:xfrm>
          <a:prstGeom prst="ellipse">
            <a:avLst/>
          </a:prstGeom>
          <a:solidFill>
            <a:srgbClr val="A78BFA">
              <a:alpha val="18000"/>
            </a:srgbClr>
          </a:solidFill>
          <a:ln>
            <a:noFill/>
          </a:ln>
        </p:spPr>
      </p:sp>
      <p:sp>
        <p:nvSpPr>
          <p:cNvPr id="7" name="text"/>
          <p:cNvSpPr/>
          <p:nvPr/>
        </p:nvSpPr>
        <p:spPr>
          <a:xfrm>
            <a:off x="502920" y="22860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950" b="1" dirty="0">
                <a:solidFill>
                  <a:srgbClr val="38D5FF"/>
                </a:solidFill>
                <a:latin typeface="Microsoft JhengHei"/>
                <a:ea typeface="Microsoft JhengHei"/>
                <a:cs typeface="Microsoft JhengHei"/>
              </a:rPr>
              <a:t>延伸設計｜尚未實作</a:t>
            </a:r>
            <a:endParaRPr lang="zh-TW" sz="950">
              <a:latin typeface="Microsoft JhengHei"/>
              <a:ea typeface="Microsoft JhengHei"/>
            </a:endParaRPr>
          </a:p>
        </p:txBody>
      </p:sp>
      <p:sp>
        <p:nvSpPr>
          <p:cNvPr id="8" name="text"/>
          <p:cNvSpPr/>
          <p:nvPr/>
        </p:nvSpPr>
        <p:spPr>
          <a:xfrm>
            <a:off x="502920" y="466344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230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一年一賽事流程</a:t>
            </a:r>
            <a:endParaRPr lang="zh-TW" sz="2300">
              <a:latin typeface="Microsoft JhengHei"/>
              <a:ea typeface="Microsoft JhengHei"/>
            </a:endParaRPr>
          </a:p>
        </p:txBody>
      </p:sp>
      <p:sp>
        <p:nvSpPr>
          <p:cNvPr id="9" name="text"/>
          <p:cNvSpPr/>
          <p:nvPr/>
        </p:nvSpPr>
        <p:spPr>
          <a:xfrm>
            <a:off x="530352" y="93268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105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每年建立獨立賽事實例，結束後封存，隔年複製為新草稿。</a:t>
            </a:r>
            <a:endParaRPr lang="zh-TW" sz="1050">
              <a:latin typeface="Microsoft JhengHei"/>
              <a:ea typeface="Microsoft JhengHei"/>
            </a:endParaRPr>
          </a:p>
        </p:txBody>
      </p:sp>
      <p:sp>
        <p:nvSpPr>
          <p:cNvPr id="10" name="rule"/>
          <p:cNvSpPr/>
          <p:nvPr/>
        </p:nvSpPr>
        <p:spPr>
          <a:xfrm>
            <a:off x="502920" y="1225296"/>
            <a:ext cx="10881360" cy="18288"/>
          </a:xfrm>
          <a:prstGeom prst="rect">
            <a:avLst/>
          </a:prstGeom>
          <a:solidFill>
            <a:srgbClr val="38D5FF">
              <a:alpha val="60000"/>
            </a:srgbClr>
          </a:solidFill>
          <a:ln>
            <a:noFill/>
          </a:ln>
        </p:spPr>
      </p:sp>
      <p:sp>
        <p:nvSpPr>
          <p:cNvPr id="11" name="arrow"/>
          <p:cNvSpPr/>
          <p:nvPr/>
        </p:nvSpPr>
        <p:spPr>
          <a:xfrm>
            <a:off x="475488" y="1700784"/>
            <a:ext cx="1938528" cy="548640"/>
          </a:xfrm>
          <a:prstGeom prst="rightArrow">
            <a:avLst/>
          </a:prstGeom>
          <a:solidFill>
            <a:srgbClr val="38D5FF"/>
          </a:solidFill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c"/>
            <a:r>
              <a:rPr lang="zh-TW" sz="900" b="1" dirty="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草稿</a:t>
            </a:r>
            <a:endParaRPr lang="zh-TW" sz="900">
              <a:latin typeface="Microsoft JhengHei"/>
              <a:ea typeface="Microsoft JhengHei"/>
            </a:endParaRPr>
          </a:p>
        </p:txBody>
      </p:sp>
      <p:sp>
        <p:nvSpPr>
          <p:cNvPr id="12" name="arrow"/>
          <p:cNvSpPr/>
          <p:nvPr/>
        </p:nvSpPr>
        <p:spPr>
          <a:xfrm>
            <a:off x="2715768" y="1700784"/>
            <a:ext cx="1938528" cy="548640"/>
          </a:xfrm>
          <a:prstGeom prst="rightArrow">
            <a:avLst/>
          </a:prstGeom>
          <a:solidFill>
            <a:srgbClr val="38D5FF"/>
          </a:solidFill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c"/>
            <a:r>
              <a:rPr lang="zh-TW" sz="900" b="1" dirty="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報名／名單匯入</a:t>
            </a:r>
            <a:endParaRPr lang="zh-TW" sz="900">
              <a:latin typeface="Microsoft JhengHei"/>
              <a:ea typeface="Microsoft JhengHei"/>
            </a:endParaRPr>
          </a:p>
        </p:txBody>
      </p:sp>
      <p:sp>
        <p:nvSpPr>
          <p:cNvPr id="13" name="arrow"/>
          <p:cNvSpPr/>
          <p:nvPr/>
        </p:nvSpPr>
        <p:spPr>
          <a:xfrm>
            <a:off x="4956048" y="1700784"/>
            <a:ext cx="1938528" cy="548640"/>
          </a:xfrm>
          <a:prstGeom prst="rightArrow">
            <a:avLst/>
          </a:prstGeom>
          <a:solidFill>
            <a:srgbClr val="60A5FA"/>
          </a:solidFill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c"/>
            <a:r>
              <a:rPr lang="zh-TW" sz="900" b="1" dirty="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等候開始</a:t>
            </a:r>
            <a:endParaRPr lang="zh-TW" sz="900">
              <a:latin typeface="Microsoft JhengHei"/>
              <a:ea typeface="Microsoft JhengHei"/>
            </a:endParaRPr>
          </a:p>
        </p:txBody>
      </p:sp>
      <p:sp>
        <p:nvSpPr>
          <p:cNvPr id="14" name="arrow"/>
          <p:cNvSpPr/>
          <p:nvPr/>
        </p:nvSpPr>
        <p:spPr>
          <a:xfrm>
            <a:off x="7196328" y="1700784"/>
            <a:ext cx="1938528" cy="548640"/>
          </a:xfrm>
          <a:prstGeom prst="rightArrow">
            <a:avLst/>
          </a:prstGeom>
          <a:solidFill>
            <a:srgbClr val="3DDC97"/>
          </a:solidFill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c"/>
            <a:r>
              <a:rPr lang="zh-TW" sz="900" b="1" dirty="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競賽中</a:t>
            </a:r>
            <a:endParaRPr lang="zh-TW" sz="900">
              <a:latin typeface="Microsoft JhengHei"/>
              <a:ea typeface="Microsoft JhengHei"/>
            </a:endParaRPr>
          </a:p>
        </p:txBody>
      </p:sp>
      <p:sp>
        <p:nvSpPr>
          <p:cNvPr id="15" name="arrow"/>
          <p:cNvSpPr/>
          <p:nvPr/>
        </p:nvSpPr>
        <p:spPr>
          <a:xfrm>
            <a:off x="9436608" y="1700784"/>
            <a:ext cx="1938528" cy="548640"/>
          </a:xfrm>
          <a:prstGeom prst="rightArrow">
            <a:avLst/>
          </a:prstGeom>
          <a:solidFill>
            <a:srgbClr val="FBBF24"/>
          </a:solidFill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c"/>
            <a:r>
              <a:rPr lang="zh-TW" sz="900" b="1" dirty="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暫停</a:t>
            </a:r>
            <a:endParaRPr lang="zh-TW" sz="900">
              <a:latin typeface="Microsoft JhengHei"/>
              <a:ea typeface="Microsoft JhengHei"/>
            </a:endParaRPr>
          </a:p>
        </p:txBody>
      </p:sp>
      <p:sp>
        <p:nvSpPr>
          <p:cNvPr id="16" name="arrow"/>
          <p:cNvSpPr/>
          <p:nvPr/>
        </p:nvSpPr>
        <p:spPr>
          <a:xfrm>
            <a:off x="1600200" y="3127248"/>
            <a:ext cx="1938528" cy="548640"/>
          </a:xfrm>
          <a:prstGeom prst="rightArrow">
            <a:avLst/>
          </a:prstGeom>
          <a:solidFill>
            <a:srgbClr val="FBBF24"/>
          </a:solidFill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c"/>
            <a:r>
              <a:rPr lang="zh-TW" sz="900" b="1" dirty="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結束</a:t>
            </a:r>
            <a:endParaRPr lang="zh-TW" sz="900">
              <a:latin typeface="Microsoft JhengHei"/>
              <a:ea typeface="Microsoft JhengHei"/>
            </a:endParaRPr>
          </a:p>
        </p:txBody>
      </p:sp>
      <p:sp>
        <p:nvSpPr>
          <p:cNvPr id="17" name="arrow"/>
          <p:cNvSpPr/>
          <p:nvPr/>
        </p:nvSpPr>
        <p:spPr>
          <a:xfrm>
            <a:off x="3840480" y="3127248"/>
            <a:ext cx="1938528" cy="548640"/>
          </a:xfrm>
          <a:prstGeom prst="rightArrow">
            <a:avLst/>
          </a:prstGeom>
          <a:solidFill>
            <a:srgbClr val="A78BFA"/>
          </a:solidFill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c"/>
            <a:r>
              <a:rPr lang="zh-TW" sz="900" b="1" dirty="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成績審核</a:t>
            </a:r>
            <a:endParaRPr lang="zh-TW" sz="900">
              <a:latin typeface="Microsoft JhengHei"/>
              <a:ea typeface="Microsoft JhengHei"/>
            </a:endParaRPr>
          </a:p>
        </p:txBody>
      </p:sp>
      <p:sp>
        <p:nvSpPr>
          <p:cNvPr id="18" name="arrow"/>
          <p:cNvSpPr/>
          <p:nvPr/>
        </p:nvSpPr>
        <p:spPr>
          <a:xfrm>
            <a:off x="6080760" y="3127248"/>
            <a:ext cx="1938528" cy="548640"/>
          </a:xfrm>
          <a:prstGeom prst="rightArrow">
            <a:avLst/>
          </a:prstGeom>
          <a:solidFill>
            <a:srgbClr val="3DDC97"/>
          </a:solidFill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c"/>
            <a:r>
              <a:rPr lang="zh-TW" sz="900" b="1" dirty="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正式公布</a:t>
            </a:r>
            <a:endParaRPr lang="zh-TW" sz="900">
              <a:latin typeface="Microsoft JhengHei"/>
              <a:ea typeface="Microsoft JhengHei"/>
            </a:endParaRPr>
          </a:p>
        </p:txBody>
      </p:sp>
      <p:sp>
        <p:nvSpPr>
          <p:cNvPr id="19" name="arrow"/>
          <p:cNvSpPr/>
          <p:nvPr/>
        </p:nvSpPr>
        <p:spPr>
          <a:xfrm>
            <a:off x="8321040" y="3127248"/>
            <a:ext cx="1938528" cy="548640"/>
          </a:xfrm>
          <a:prstGeom prst="rightArrow">
            <a:avLst/>
          </a:prstGeom>
          <a:solidFill>
            <a:srgbClr val="8FA8C6"/>
          </a:solidFill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c"/>
            <a:r>
              <a:rPr lang="zh-TW" sz="900" b="1" dirty="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封存</a:t>
            </a:r>
            <a:endParaRPr lang="zh-TW" sz="900">
              <a:latin typeface="Microsoft JhengHei"/>
              <a:ea typeface="Microsoft JhengHei"/>
            </a:endParaRPr>
          </a:p>
        </p:txBody>
      </p:sp>
      <p:sp>
        <p:nvSpPr>
          <p:cNvPr id="20" name="card"/>
          <p:cNvSpPr/>
          <p:nvPr/>
        </p:nvSpPr>
        <p:spPr>
          <a:xfrm>
            <a:off x="914400" y="4572000"/>
            <a:ext cx="4983480" cy="109728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21" name="card-accent"/>
          <p:cNvSpPr/>
          <p:nvPr/>
        </p:nvSpPr>
        <p:spPr>
          <a:xfrm>
            <a:off x="914400" y="4572000"/>
            <a:ext cx="73152" cy="1097280"/>
          </a:xfrm>
          <a:prstGeom prst="round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22" name="card-text"/>
          <p:cNvSpPr/>
          <p:nvPr/>
        </p:nvSpPr>
        <p:spPr>
          <a:xfrm>
            <a:off x="1042416" y="4626864"/>
            <a:ext cx="4782312" cy="100584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年度資料包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每個賽事保存名單、題目版本、時間設定、提交紀錄、排名、事件紀錄。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23" name="card"/>
          <p:cNvSpPr/>
          <p:nvPr/>
        </p:nvSpPr>
        <p:spPr>
          <a:xfrm>
            <a:off x="6172200" y="4572000"/>
            <a:ext cx="4983480" cy="109728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24" name="card-accent"/>
          <p:cNvSpPr/>
          <p:nvPr/>
        </p:nvSpPr>
        <p:spPr>
          <a:xfrm>
            <a:off x="6172200" y="4572000"/>
            <a:ext cx="73152" cy="109728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25" name="card-text"/>
          <p:cNvSpPr/>
          <p:nvPr/>
        </p:nvSpPr>
        <p:spPr>
          <a:xfrm>
            <a:off x="6300216" y="4626864"/>
            <a:ext cx="4782312" cy="100584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暫停是例外狀態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不是每年都必經，但系統必須支援延長、暫停、恢復與公告。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26" name="text"/>
          <p:cNvSpPr/>
          <p:nvPr/>
        </p:nvSpPr>
        <p:spPr>
          <a:xfrm>
            <a:off x="502920" y="6446520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720" dirty="0">
                <a:solidFill>
                  <a:srgbClr val="6F88A6"/>
                </a:solidFill>
                <a:latin typeface="Microsoft JhengHei"/>
                <a:ea typeface="Microsoft JhengHei"/>
                <a:cs typeface="Microsoft JhengHei"/>
              </a:rPr>
              <a:t>宜蘭縣資訊科技創意實作競賽網站功能說明</a:t>
            </a:r>
            <a:endParaRPr lang="zh-TW" sz="720">
              <a:latin typeface="Microsoft JhengHei"/>
              <a:ea typeface="Microsoft JhengHei"/>
            </a:endParaRPr>
          </a:p>
        </p:txBody>
      </p:sp>
      <p:sp>
        <p:nvSpPr>
          <p:cNvPr id="27" name="text"/>
          <p:cNvSpPr/>
          <p:nvPr/>
        </p:nvSpPr>
        <p:spPr>
          <a:xfrm>
            <a:off x="10515600" y="6446520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lang="zh-TW" sz="780" dirty="0">
                <a:solidFill>
                  <a:srgbClr val="8FA8C6"/>
                </a:solidFill>
                <a:latin typeface="Microsoft JhengHei"/>
                <a:ea typeface="Microsoft JhengHei"/>
                <a:cs typeface="Microsoft JhengHei"/>
              </a:rPr>
              <a:t>18/25</a:t>
            </a:r>
            <a:endParaRPr lang="zh-TW" sz="780">
              <a:latin typeface="Microsoft JhengHei"/>
              <a:ea typeface="Microsoft JhengHe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2"/>
          </a:solidFill>
          <a:ln>
            <a:noFill/>
          </a:ln>
        </p:spPr>
      </p:sp>
      <p:sp>
        <p:nvSpPr>
          <p:cNvPr id="3" name="glow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5" name="orb1"/>
          <p:cNvSpPr/>
          <p:nvPr/>
        </p:nvSpPr>
        <p:spPr>
          <a:xfrm>
            <a:off x="9784080" y="-228600"/>
            <a:ext cx="2103120" cy="2103120"/>
          </a:xfrm>
          <a:prstGeom prst="ellipse">
            <a:avLst/>
          </a:prstGeom>
          <a:solidFill>
            <a:srgbClr val="38D5FF">
              <a:alpha val="16000"/>
            </a:srgbClr>
          </a:solidFill>
          <a:ln>
            <a:noFill/>
          </a:ln>
        </p:spPr>
      </p:sp>
      <p:sp>
        <p:nvSpPr>
          <p:cNvPr id="6" name="orb2"/>
          <p:cNvSpPr/>
          <p:nvPr/>
        </p:nvSpPr>
        <p:spPr>
          <a:xfrm>
            <a:off x="10607040" y="5257800"/>
            <a:ext cx="1280160" cy="1280160"/>
          </a:xfrm>
          <a:prstGeom prst="ellipse">
            <a:avLst/>
          </a:prstGeom>
          <a:solidFill>
            <a:srgbClr val="A78BFA">
              <a:alpha val="18000"/>
            </a:srgbClr>
          </a:solidFill>
          <a:ln>
            <a:noFill/>
          </a:ln>
        </p:spPr>
      </p:sp>
      <p:sp>
        <p:nvSpPr>
          <p:cNvPr id="7" name="text"/>
          <p:cNvSpPr/>
          <p:nvPr/>
        </p:nvSpPr>
        <p:spPr>
          <a:xfrm>
            <a:off x="502920" y="22860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950" b="1" dirty="0">
                <a:solidFill>
                  <a:srgbClr val="38D5FF"/>
                </a:solidFill>
                <a:latin typeface="Microsoft JhengHei"/>
                <a:ea typeface="Microsoft JhengHei"/>
                <a:cs typeface="Microsoft JhengHei"/>
              </a:rPr>
              <a:t>延伸設計｜尚未實作</a:t>
            </a:r>
            <a:endParaRPr lang="zh-TW" sz="950">
              <a:latin typeface="Microsoft JhengHei"/>
              <a:ea typeface="Microsoft JhengHei"/>
            </a:endParaRPr>
          </a:p>
        </p:txBody>
      </p:sp>
      <p:sp>
        <p:nvSpPr>
          <p:cNvPr id="8" name="text"/>
          <p:cNvSpPr/>
          <p:nvPr/>
        </p:nvSpPr>
        <p:spPr>
          <a:xfrm>
            <a:off x="502920" y="466344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230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競賽模式與練習模式分流</a:t>
            </a:r>
            <a:endParaRPr lang="zh-TW" sz="2300">
              <a:latin typeface="Microsoft JhengHei"/>
              <a:ea typeface="Microsoft JhengHei"/>
            </a:endParaRPr>
          </a:p>
        </p:txBody>
      </p:sp>
      <p:sp>
        <p:nvSpPr>
          <p:cNvPr id="9" name="text"/>
          <p:cNvSpPr/>
          <p:nvPr/>
        </p:nvSpPr>
        <p:spPr>
          <a:xfrm>
            <a:off x="530352" y="93268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105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建議維持同一網站入口，但資料、權限、題目與排行榜必須分開。</a:t>
            </a:r>
            <a:endParaRPr lang="zh-TW" sz="1050">
              <a:latin typeface="Microsoft JhengHei"/>
              <a:ea typeface="Microsoft JhengHei"/>
            </a:endParaRPr>
          </a:p>
        </p:txBody>
      </p:sp>
      <p:sp>
        <p:nvSpPr>
          <p:cNvPr id="10" name="rule"/>
          <p:cNvSpPr/>
          <p:nvPr/>
        </p:nvSpPr>
        <p:spPr>
          <a:xfrm>
            <a:off x="502920" y="1225296"/>
            <a:ext cx="10881360" cy="18288"/>
          </a:xfrm>
          <a:prstGeom prst="rect">
            <a:avLst/>
          </a:prstGeom>
          <a:solidFill>
            <a:srgbClr val="38D5FF">
              <a:alpha val="60000"/>
            </a:srgbClr>
          </a:solidFill>
          <a:ln>
            <a:noFill/>
          </a:ln>
        </p:spPr>
      </p:sp>
      <p:sp>
        <p:nvSpPr>
          <p:cNvPr id="11" name="card"/>
          <p:cNvSpPr/>
          <p:nvPr/>
        </p:nvSpPr>
        <p:spPr>
          <a:xfrm>
            <a:off x="68580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2" name="card-accent"/>
          <p:cNvSpPr/>
          <p:nvPr/>
        </p:nvSpPr>
        <p:spPr>
          <a:xfrm>
            <a:off x="685800" y="1417320"/>
            <a:ext cx="73152" cy="1691640"/>
          </a:xfrm>
          <a:prstGeom prst="roundRect">
            <a:avLst/>
          </a:prstGeom>
          <a:solidFill>
            <a:srgbClr val="3DDC97"/>
          </a:solidFill>
          <a:ln>
            <a:noFill/>
          </a:ln>
        </p:spPr>
      </p:sp>
      <p:sp>
        <p:nvSpPr>
          <p:cNvPr id="13" name="card-text"/>
          <p:cNvSpPr/>
          <p:nvPr/>
        </p:nvSpPr>
        <p:spPr>
          <a:xfrm>
            <a:off x="81381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練習區 /practice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全年開放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題庫練習、紀錄、徽章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練習排行榜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4" name="card"/>
          <p:cNvSpPr/>
          <p:nvPr/>
        </p:nvSpPr>
        <p:spPr>
          <a:xfrm>
            <a:off x="425196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5" name="card-accent"/>
          <p:cNvSpPr/>
          <p:nvPr/>
        </p:nvSpPr>
        <p:spPr>
          <a:xfrm>
            <a:off x="4251960" y="1417320"/>
            <a:ext cx="73152" cy="1691640"/>
          </a:xfrm>
          <a:prstGeom prst="round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16" name="card-text"/>
          <p:cNvSpPr/>
          <p:nvPr/>
        </p:nvSpPr>
        <p:spPr>
          <a:xfrm>
            <a:off x="437997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賽事區 /contest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限定名單與競賽時間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只開放競賽題目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伺服器計時與評分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7" name="card"/>
          <p:cNvSpPr/>
          <p:nvPr/>
        </p:nvSpPr>
        <p:spPr>
          <a:xfrm>
            <a:off x="781812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8" name="card-accent"/>
          <p:cNvSpPr/>
          <p:nvPr/>
        </p:nvSpPr>
        <p:spPr>
          <a:xfrm>
            <a:off x="7818120" y="1417320"/>
            <a:ext cx="73152" cy="16916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19" name="card-text"/>
          <p:cNvSpPr/>
          <p:nvPr/>
        </p:nvSpPr>
        <p:spPr>
          <a:xfrm>
            <a:off x="794613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管理區 /admin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賽事設定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名單與學校管理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即時監控與成績審核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20" name="card"/>
          <p:cNvSpPr/>
          <p:nvPr/>
        </p:nvSpPr>
        <p:spPr>
          <a:xfrm>
            <a:off x="960120" y="4892040"/>
            <a:ext cx="10149840" cy="749808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21" name="card-accent"/>
          <p:cNvSpPr/>
          <p:nvPr/>
        </p:nvSpPr>
        <p:spPr>
          <a:xfrm>
            <a:off x="960120" y="4892040"/>
            <a:ext cx="73152" cy="749808"/>
          </a:xfrm>
          <a:prstGeom prst="roundRect">
            <a:avLst/>
          </a:prstGeom>
          <a:solidFill>
            <a:srgbClr val="3DDC97"/>
          </a:solidFill>
          <a:ln>
            <a:noFill/>
          </a:ln>
        </p:spPr>
      </p:sp>
      <p:sp>
        <p:nvSpPr>
          <p:cNvPr id="22" name="card-text"/>
          <p:cNvSpPr/>
          <p:nvPr/>
        </p:nvSpPr>
        <p:spPr>
          <a:xfrm>
            <a:off x="1088136" y="4946904"/>
            <a:ext cx="9948672" cy="65836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重點提醒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不要只做全站開關；應以多個賽事實例管理，才能支援歷屆、測試賽、補賽與校內賽。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23" name="text"/>
          <p:cNvSpPr/>
          <p:nvPr/>
        </p:nvSpPr>
        <p:spPr>
          <a:xfrm>
            <a:off x="502920" y="6446520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720" dirty="0">
                <a:solidFill>
                  <a:srgbClr val="6F88A6"/>
                </a:solidFill>
                <a:latin typeface="Microsoft JhengHei"/>
                <a:ea typeface="Microsoft JhengHei"/>
                <a:cs typeface="Microsoft JhengHei"/>
              </a:rPr>
              <a:t>宜蘭縣資訊科技創意實作競賽網站功能說明</a:t>
            </a:r>
            <a:endParaRPr lang="zh-TW" sz="720">
              <a:latin typeface="Microsoft JhengHei"/>
              <a:ea typeface="Microsoft JhengHei"/>
            </a:endParaRPr>
          </a:p>
        </p:txBody>
      </p:sp>
      <p:sp>
        <p:nvSpPr>
          <p:cNvPr id="24" name="text"/>
          <p:cNvSpPr/>
          <p:nvPr/>
        </p:nvSpPr>
        <p:spPr>
          <a:xfrm>
            <a:off x="10515600" y="6446520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lang="zh-TW" sz="780" dirty="0">
                <a:solidFill>
                  <a:srgbClr val="8FA8C6"/>
                </a:solidFill>
                <a:latin typeface="Microsoft JhengHei"/>
                <a:ea typeface="Microsoft JhengHei"/>
                <a:cs typeface="Microsoft JhengHei"/>
              </a:rPr>
              <a:t>19/25</a:t>
            </a:r>
            <a:endParaRPr lang="zh-TW" sz="780">
              <a:latin typeface="Microsoft JhengHei"/>
              <a:ea typeface="Microsoft JhengHe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2"/>
          </a:solidFill>
          <a:ln>
            <a:noFill/>
          </a:ln>
        </p:spPr>
      </p:sp>
      <p:sp>
        <p:nvSpPr>
          <p:cNvPr id="3" name="glow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5" name="orb1"/>
          <p:cNvSpPr/>
          <p:nvPr/>
        </p:nvSpPr>
        <p:spPr>
          <a:xfrm>
            <a:off x="9784080" y="-228600"/>
            <a:ext cx="2103120" cy="2103120"/>
          </a:xfrm>
          <a:prstGeom prst="ellipse">
            <a:avLst/>
          </a:prstGeom>
          <a:solidFill>
            <a:srgbClr val="38D5FF">
              <a:alpha val="16000"/>
            </a:srgbClr>
          </a:solidFill>
          <a:ln>
            <a:noFill/>
          </a:ln>
        </p:spPr>
      </p:sp>
      <p:sp>
        <p:nvSpPr>
          <p:cNvPr id="6" name="orb2"/>
          <p:cNvSpPr/>
          <p:nvPr/>
        </p:nvSpPr>
        <p:spPr>
          <a:xfrm>
            <a:off x="10607040" y="5257800"/>
            <a:ext cx="1280160" cy="1280160"/>
          </a:xfrm>
          <a:prstGeom prst="ellipse">
            <a:avLst/>
          </a:prstGeom>
          <a:solidFill>
            <a:srgbClr val="A78BFA">
              <a:alpha val="18000"/>
            </a:srgbClr>
          </a:solidFill>
          <a:ln>
            <a:noFill/>
          </a:ln>
        </p:spPr>
      </p:sp>
      <p:sp>
        <p:nvSpPr>
          <p:cNvPr id="7" name="text"/>
          <p:cNvSpPr/>
          <p:nvPr/>
        </p:nvSpPr>
        <p:spPr>
          <a:xfrm>
            <a:off x="502920" y="22860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950" b="1" dirty="0">
                <a:solidFill>
                  <a:srgbClr val="38D5FF"/>
                </a:solidFill>
                <a:latin typeface="Microsoft JhengHei"/>
                <a:ea typeface="Microsoft JhengHei"/>
                <a:cs typeface="Microsoft JhengHei"/>
              </a:rPr>
              <a:t>延伸設計｜尚未實作</a:t>
            </a:r>
            <a:endParaRPr lang="zh-TW" sz="950">
              <a:latin typeface="Microsoft JhengHei"/>
              <a:ea typeface="Microsoft JhengHei"/>
            </a:endParaRPr>
          </a:p>
        </p:txBody>
      </p:sp>
      <p:sp>
        <p:nvSpPr>
          <p:cNvPr id="8" name="text"/>
          <p:cNvSpPr/>
          <p:nvPr/>
        </p:nvSpPr>
        <p:spPr>
          <a:xfrm>
            <a:off x="502920" y="466344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230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三階層角色與學校管理</a:t>
            </a:r>
            <a:endParaRPr lang="zh-TW" sz="2300">
              <a:latin typeface="Microsoft JhengHei"/>
              <a:ea typeface="Microsoft JhengHei"/>
            </a:endParaRPr>
          </a:p>
        </p:txBody>
      </p:sp>
      <p:sp>
        <p:nvSpPr>
          <p:cNvPr id="9" name="text"/>
          <p:cNvSpPr/>
          <p:nvPr/>
        </p:nvSpPr>
        <p:spPr>
          <a:xfrm>
            <a:off x="530352" y="93268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105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把權限從單一管理者升級為超級管理者、學校管理者、使用者。</a:t>
            </a:r>
            <a:endParaRPr lang="zh-TW" sz="1050">
              <a:latin typeface="Microsoft JhengHei"/>
              <a:ea typeface="Microsoft JhengHei"/>
            </a:endParaRPr>
          </a:p>
        </p:txBody>
      </p:sp>
      <p:sp>
        <p:nvSpPr>
          <p:cNvPr id="10" name="rule"/>
          <p:cNvSpPr/>
          <p:nvPr/>
        </p:nvSpPr>
        <p:spPr>
          <a:xfrm>
            <a:off x="502920" y="1225296"/>
            <a:ext cx="10881360" cy="18288"/>
          </a:xfrm>
          <a:prstGeom prst="rect">
            <a:avLst/>
          </a:prstGeom>
          <a:solidFill>
            <a:srgbClr val="38D5FF">
              <a:alpha val="60000"/>
            </a:srgbClr>
          </a:solidFill>
          <a:ln>
            <a:noFill/>
          </a:ln>
        </p:spPr>
      </p:sp>
      <p:sp>
        <p:nvSpPr>
          <p:cNvPr id="11" name="card"/>
          <p:cNvSpPr/>
          <p:nvPr/>
        </p:nvSpPr>
        <p:spPr>
          <a:xfrm>
            <a:off x="68580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2" name="card-accent"/>
          <p:cNvSpPr/>
          <p:nvPr/>
        </p:nvSpPr>
        <p:spPr>
          <a:xfrm>
            <a:off x="685800" y="1417320"/>
            <a:ext cx="73152" cy="1691640"/>
          </a:xfrm>
          <a:prstGeom prst="round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13" name="card-text"/>
          <p:cNvSpPr/>
          <p:nvPr/>
        </p:nvSpPr>
        <p:spPr>
          <a:xfrm>
            <a:off x="81381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超級管理者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建立與設定賽事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指定學校管理者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管理全部權限與資料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4" name="card"/>
          <p:cNvSpPr/>
          <p:nvPr/>
        </p:nvSpPr>
        <p:spPr>
          <a:xfrm>
            <a:off x="425196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5" name="card-accent"/>
          <p:cNvSpPr/>
          <p:nvPr/>
        </p:nvSpPr>
        <p:spPr>
          <a:xfrm>
            <a:off x="4251960" y="1417320"/>
            <a:ext cx="73152" cy="1691640"/>
          </a:xfrm>
          <a:prstGeom prst="roundRect">
            <a:avLst/>
          </a:prstGeom>
          <a:solidFill>
            <a:srgbClr val="3DDC97"/>
          </a:solidFill>
          <a:ln>
            <a:noFill/>
          </a:ln>
        </p:spPr>
      </p:sp>
      <p:sp>
        <p:nvSpPr>
          <p:cNvPr id="16" name="card-text"/>
          <p:cNvSpPr/>
          <p:nvPr/>
        </p:nvSpPr>
        <p:spPr>
          <a:xfrm>
            <a:off x="437997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各校管理者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查看所屬學校使用者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追蹤答題與登入狀態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協助名單維護與賽務通知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7" name="card"/>
          <p:cNvSpPr/>
          <p:nvPr/>
        </p:nvSpPr>
        <p:spPr>
          <a:xfrm>
            <a:off x="781812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8" name="card-accent"/>
          <p:cNvSpPr/>
          <p:nvPr/>
        </p:nvSpPr>
        <p:spPr>
          <a:xfrm>
            <a:off x="7818120" y="1417320"/>
            <a:ext cx="73152" cy="16916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19" name="card-text"/>
          <p:cNvSpPr/>
          <p:nvPr/>
        </p:nvSpPr>
        <p:spPr>
          <a:xfrm>
            <a:off x="794613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一般使用者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練習、競賽、PK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查看個人成績與徽章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依權限看到相對應排行榜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20" name="card"/>
          <p:cNvSpPr/>
          <p:nvPr/>
        </p:nvSpPr>
        <p:spPr>
          <a:xfrm>
            <a:off x="960120" y="4892040"/>
            <a:ext cx="10149840" cy="749808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21" name="card-accent"/>
          <p:cNvSpPr/>
          <p:nvPr/>
        </p:nvSpPr>
        <p:spPr>
          <a:xfrm>
            <a:off x="960120" y="4892040"/>
            <a:ext cx="73152" cy="749808"/>
          </a:xfrm>
          <a:prstGeom prst="round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22" name="card-text"/>
          <p:cNvSpPr/>
          <p:nvPr/>
        </p:nvSpPr>
        <p:spPr>
          <a:xfrm>
            <a:off x="1088136" y="4946904"/>
            <a:ext cx="9948672" cy="65836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重點提醒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校際排行建議採用 Top N 平均或完成率加權，避免大校因人數優勢自然壓過小校。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23" name="text"/>
          <p:cNvSpPr/>
          <p:nvPr/>
        </p:nvSpPr>
        <p:spPr>
          <a:xfrm>
            <a:off x="502920" y="6446520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720" dirty="0">
                <a:solidFill>
                  <a:srgbClr val="6F88A6"/>
                </a:solidFill>
                <a:latin typeface="Microsoft JhengHei"/>
                <a:ea typeface="Microsoft JhengHei"/>
                <a:cs typeface="Microsoft JhengHei"/>
              </a:rPr>
              <a:t>宜蘭縣資訊科技創意實作競賽網站功能說明</a:t>
            </a:r>
            <a:endParaRPr lang="zh-TW" sz="720">
              <a:latin typeface="Microsoft JhengHei"/>
              <a:ea typeface="Microsoft JhengHei"/>
            </a:endParaRPr>
          </a:p>
        </p:txBody>
      </p:sp>
      <p:sp>
        <p:nvSpPr>
          <p:cNvPr id="24" name="text"/>
          <p:cNvSpPr/>
          <p:nvPr/>
        </p:nvSpPr>
        <p:spPr>
          <a:xfrm>
            <a:off x="10515600" y="6446520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lang="zh-TW" sz="780" dirty="0">
                <a:solidFill>
                  <a:srgbClr val="8FA8C6"/>
                </a:solidFill>
                <a:latin typeface="Microsoft JhengHei"/>
                <a:ea typeface="Microsoft JhengHei"/>
                <a:cs typeface="Microsoft JhengHei"/>
              </a:rPr>
              <a:t>20/25</a:t>
            </a:r>
            <a:endParaRPr lang="zh-TW" sz="780">
              <a:latin typeface="Microsoft JhengHei"/>
              <a:ea typeface="Microsoft JhengHe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2"/>
          </a:solidFill>
          <a:ln>
            <a:noFill/>
          </a:ln>
        </p:spPr>
      </p:sp>
      <p:sp>
        <p:nvSpPr>
          <p:cNvPr id="3" name="glow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5" name="orb1"/>
          <p:cNvSpPr/>
          <p:nvPr/>
        </p:nvSpPr>
        <p:spPr>
          <a:xfrm>
            <a:off x="9784080" y="-228600"/>
            <a:ext cx="2103120" cy="2103120"/>
          </a:xfrm>
          <a:prstGeom prst="ellipse">
            <a:avLst/>
          </a:prstGeom>
          <a:solidFill>
            <a:srgbClr val="38D5FF">
              <a:alpha val="16000"/>
            </a:srgbClr>
          </a:solidFill>
          <a:ln>
            <a:noFill/>
          </a:ln>
        </p:spPr>
      </p:sp>
      <p:sp>
        <p:nvSpPr>
          <p:cNvPr id="6" name="orb2"/>
          <p:cNvSpPr/>
          <p:nvPr/>
        </p:nvSpPr>
        <p:spPr>
          <a:xfrm>
            <a:off x="10607040" y="5257800"/>
            <a:ext cx="1280160" cy="1280160"/>
          </a:xfrm>
          <a:prstGeom prst="ellipse">
            <a:avLst/>
          </a:prstGeom>
          <a:solidFill>
            <a:srgbClr val="A78BFA">
              <a:alpha val="18000"/>
            </a:srgbClr>
          </a:solidFill>
          <a:ln>
            <a:noFill/>
          </a:ln>
        </p:spPr>
      </p:sp>
      <p:sp>
        <p:nvSpPr>
          <p:cNvPr id="7" name="text"/>
          <p:cNvSpPr/>
          <p:nvPr/>
        </p:nvSpPr>
        <p:spPr>
          <a:xfrm>
            <a:off x="502920" y="22860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950" b="1" dirty="0">
                <a:solidFill>
                  <a:srgbClr val="38D5FF"/>
                </a:solidFill>
                <a:latin typeface="Microsoft JhengHei"/>
                <a:ea typeface="Microsoft JhengHei"/>
                <a:cs typeface="Microsoft JhengHei"/>
              </a:rPr>
              <a:t>延伸設計｜尚未實作</a:t>
            </a:r>
            <a:endParaRPr lang="zh-TW" sz="950">
              <a:latin typeface="Microsoft JhengHei"/>
              <a:ea typeface="Microsoft JhengHei"/>
            </a:endParaRPr>
          </a:p>
        </p:txBody>
      </p:sp>
      <p:sp>
        <p:nvSpPr>
          <p:cNvPr id="8" name="text"/>
          <p:cNvSpPr/>
          <p:nvPr/>
        </p:nvSpPr>
        <p:spPr>
          <a:xfrm>
            <a:off x="502920" y="466344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230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即時競賽儀表板</a:t>
            </a:r>
            <a:endParaRPr lang="zh-TW" sz="2300">
              <a:latin typeface="Microsoft JhengHei"/>
              <a:ea typeface="Microsoft JhengHei"/>
            </a:endParaRPr>
          </a:p>
        </p:txBody>
      </p:sp>
      <p:sp>
        <p:nvSpPr>
          <p:cNvPr id="9" name="text"/>
          <p:cNvSpPr/>
          <p:nvPr/>
        </p:nvSpPr>
        <p:spPr>
          <a:xfrm>
            <a:off x="530352" y="93268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105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正式賽期間，管理者需要看到每位參賽者的即時狀態與風險。</a:t>
            </a:r>
            <a:endParaRPr lang="zh-TW" sz="1050">
              <a:latin typeface="Microsoft JhengHei"/>
              <a:ea typeface="Microsoft JhengHei"/>
            </a:endParaRPr>
          </a:p>
        </p:txBody>
      </p:sp>
      <p:sp>
        <p:nvSpPr>
          <p:cNvPr id="10" name="rule"/>
          <p:cNvSpPr/>
          <p:nvPr/>
        </p:nvSpPr>
        <p:spPr>
          <a:xfrm>
            <a:off x="502920" y="1225296"/>
            <a:ext cx="10881360" cy="18288"/>
          </a:xfrm>
          <a:prstGeom prst="rect">
            <a:avLst/>
          </a:prstGeom>
          <a:solidFill>
            <a:srgbClr val="38D5FF">
              <a:alpha val="60000"/>
            </a:srgbClr>
          </a:solidFill>
          <a:ln>
            <a:noFill/>
          </a:ln>
        </p:spPr>
      </p:sp>
      <p:sp>
        <p:nvSpPr>
          <p:cNvPr id="11" name="card"/>
          <p:cNvSpPr/>
          <p:nvPr/>
        </p:nvSpPr>
        <p:spPr>
          <a:xfrm>
            <a:off x="68580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2" name="card-accent"/>
          <p:cNvSpPr/>
          <p:nvPr/>
        </p:nvSpPr>
        <p:spPr>
          <a:xfrm>
            <a:off x="685800" y="1417320"/>
            <a:ext cx="73152" cy="1691640"/>
          </a:xfrm>
          <a:prstGeom prst="round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13" name="card-text"/>
          <p:cNvSpPr/>
          <p:nvPr/>
        </p:nvSpPr>
        <p:spPr>
          <a:xfrm>
            <a:off x="81381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狀態追蹤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未登入 / 已登入待開始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作答中 / 已提交 / 已完成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離線、逾時、暫停、恢復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4" name="card"/>
          <p:cNvSpPr/>
          <p:nvPr/>
        </p:nvSpPr>
        <p:spPr>
          <a:xfrm>
            <a:off x="425196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5" name="card-accent"/>
          <p:cNvSpPr/>
          <p:nvPr/>
        </p:nvSpPr>
        <p:spPr>
          <a:xfrm>
            <a:off x="4251960" y="1417320"/>
            <a:ext cx="73152" cy="1691640"/>
          </a:xfrm>
          <a:prstGeom prst="roundRect">
            <a:avLst/>
          </a:prstGeom>
          <a:solidFill>
            <a:srgbClr val="3DDC97"/>
          </a:solidFill>
          <a:ln>
            <a:noFill/>
          </a:ln>
        </p:spPr>
      </p:sp>
      <p:sp>
        <p:nvSpPr>
          <p:cNvPr id="16" name="card-text"/>
          <p:cNvSpPr/>
          <p:nvPr/>
        </p:nvSpPr>
        <p:spPr>
          <a:xfrm>
            <a:off x="437997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時間與紀錄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伺服器時間為準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使用時間與剩餘時間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提交次數、最後活動時間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7" name="card"/>
          <p:cNvSpPr/>
          <p:nvPr/>
        </p:nvSpPr>
        <p:spPr>
          <a:xfrm>
            <a:off x="781812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8" name="card-accent"/>
          <p:cNvSpPr/>
          <p:nvPr/>
        </p:nvSpPr>
        <p:spPr>
          <a:xfrm>
            <a:off x="7818120" y="1417320"/>
            <a:ext cx="73152" cy="16916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9" name="card-text"/>
          <p:cNvSpPr/>
          <p:nvPr/>
        </p:nvSpPr>
        <p:spPr>
          <a:xfrm>
            <a:off x="794613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賽務控制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競賽開始/結束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緊急暫停與延長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事件公告與操作紀錄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20" name="card"/>
          <p:cNvSpPr/>
          <p:nvPr/>
        </p:nvSpPr>
        <p:spPr>
          <a:xfrm>
            <a:off x="960120" y="4892040"/>
            <a:ext cx="10149840" cy="749808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21" name="card-accent"/>
          <p:cNvSpPr/>
          <p:nvPr/>
        </p:nvSpPr>
        <p:spPr>
          <a:xfrm>
            <a:off x="960120" y="4892040"/>
            <a:ext cx="73152" cy="749808"/>
          </a:xfrm>
          <a:prstGeom prst="round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22" name="card-text"/>
          <p:cNvSpPr/>
          <p:nvPr/>
        </p:nvSpPr>
        <p:spPr>
          <a:xfrm>
            <a:off x="1088136" y="4946904"/>
            <a:ext cx="9948672" cy="65836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重點提醒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練習後台是事後看紀錄；正式賽儀表板是比賽中監控與處置。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23" name="text"/>
          <p:cNvSpPr/>
          <p:nvPr/>
        </p:nvSpPr>
        <p:spPr>
          <a:xfrm>
            <a:off x="502920" y="6446520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720" dirty="0">
                <a:solidFill>
                  <a:srgbClr val="6F88A6"/>
                </a:solidFill>
                <a:latin typeface="Microsoft JhengHei"/>
                <a:ea typeface="Microsoft JhengHei"/>
                <a:cs typeface="Microsoft JhengHei"/>
              </a:rPr>
              <a:t>宜蘭縣資訊科技創意實作競賽網站功能說明</a:t>
            </a:r>
            <a:endParaRPr lang="zh-TW" sz="720">
              <a:latin typeface="Microsoft JhengHei"/>
              <a:ea typeface="Microsoft JhengHei"/>
            </a:endParaRPr>
          </a:p>
        </p:txBody>
      </p:sp>
      <p:sp>
        <p:nvSpPr>
          <p:cNvPr id="24" name="text"/>
          <p:cNvSpPr/>
          <p:nvPr/>
        </p:nvSpPr>
        <p:spPr>
          <a:xfrm>
            <a:off x="10515600" y="6446520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lang="zh-TW" sz="780" dirty="0">
                <a:solidFill>
                  <a:srgbClr val="8FA8C6"/>
                </a:solidFill>
                <a:latin typeface="Microsoft JhengHei"/>
                <a:ea typeface="Microsoft JhengHei"/>
                <a:cs typeface="Microsoft JhengHei"/>
              </a:rPr>
              <a:t>21/25</a:t>
            </a:r>
            <a:endParaRPr lang="zh-TW" sz="780">
              <a:latin typeface="Microsoft JhengHei"/>
              <a:ea typeface="Microsoft JhengHe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2"/>
          </a:solidFill>
          <a:ln>
            <a:noFill/>
          </a:ln>
        </p:spPr>
      </p:sp>
      <p:sp>
        <p:nvSpPr>
          <p:cNvPr id="3" name="glow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5" name="orb1"/>
          <p:cNvSpPr/>
          <p:nvPr/>
        </p:nvSpPr>
        <p:spPr>
          <a:xfrm>
            <a:off x="9784080" y="-228600"/>
            <a:ext cx="2103120" cy="2103120"/>
          </a:xfrm>
          <a:prstGeom prst="ellipse">
            <a:avLst/>
          </a:prstGeom>
          <a:solidFill>
            <a:srgbClr val="38D5FF">
              <a:alpha val="16000"/>
            </a:srgbClr>
          </a:solidFill>
          <a:ln>
            <a:noFill/>
          </a:ln>
        </p:spPr>
      </p:sp>
      <p:sp>
        <p:nvSpPr>
          <p:cNvPr id="6" name="orb2"/>
          <p:cNvSpPr/>
          <p:nvPr/>
        </p:nvSpPr>
        <p:spPr>
          <a:xfrm>
            <a:off x="10607040" y="5257800"/>
            <a:ext cx="1280160" cy="1280160"/>
          </a:xfrm>
          <a:prstGeom prst="ellipse">
            <a:avLst/>
          </a:prstGeom>
          <a:solidFill>
            <a:srgbClr val="A78BFA">
              <a:alpha val="18000"/>
            </a:srgbClr>
          </a:solidFill>
          <a:ln>
            <a:noFill/>
          </a:ln>
        </p:spPr>
      </p:sp>
      <p:sp>
        <p:nvSpPr>
          <p:cNvPr id="7" name="text"/>
          <p:cNvSpPr/>
          <p:nvPr/>
        </p:nvSpPr>
        <p:spPr>
          <a:xfrm>
            <a:off x="502920" y="22860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950" b="1" dirty="0">
                <a:solidFill>
                  <a:srgbClr val="38D5FF"/>
                </a:solidFill>
                <a:latin typeface="Microsoft JhengHei"/>
                <a:ea typeface="Microsoft JhengHei"/>
                <a:cs typeface="Microsoft JhengHei"/>
              </a:rPr>
              <a:t>延伸設計｜尚未實作</a:t>
            </a:r>
            <a:endParaRPr lang="zh-TW" sz="950">
              <a:latin typeface="Microsoft JhengHei"/>
              <a:ea typeface="Microsoft JhengHei"/>
            </a:endParaRPr>
          </a:p>
        </p:txBody>
      </p:sp>
      <p:sp>
        <p:nvSpPr>
          <p:cNvPr id="8" name="text"/>
          <p:cNvSpPr/>
          <p:nvPr/>
        </p:nvSpPr>
        <p:spPr>
          <a:xfrm>
            <a:off x="502920" y="466344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230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成績審核與正式公布</a:t>
            </a:r>
            <a:endParaRPr lang="zh-TW" sz="2300">
              <a:latin typeface="Microsoft JhengHei"/>
              <a:ea typeface="Microsoft JhengHei"/>
            </a:endParaRPr>
          </a:p>
        </p:txBody>
      </p:sp>
      <p:sp>
        <p:nvSpPr>
          <p:cNvPr id="9" name="text"/>
          <p:cNvSpPr/>
          <p:nvPr/>
        </p:nvSpPr>
        <p:spPr>
          <a:xfrm>
            <a:off x="530352" y="93268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105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正式競賽結束後不直接把臨時計分當正式結果，需有審核流程。</a:t>
            </a:r>
            <a:endParaRPr lang="zh-TW" sz="1050">
              <a:latin typeface="Microsoft JhengHei"/>
              <a:ea typeface="Microsoft JhengHei"/>
            </a:endParaRPr>
          </a:p>
        </p:txBody>
      </p:sp>
      <p:sp>
        <p:nvSpPr>
          <p:cNvPr id="10" name="rule"/>
          <p:cNvSpPr/>
          <p:nvPr/>
        </p:nvSpPr>
        <p:spPr>
          <a:xfrm>
            <a:off x="502920" y="1225296"/>
            <a:ext cx="10881360" cy="18288"/>
          </a:xfrm>
          <a:prstGeom prst="rect">
            <a:avLst/>
          </a:prstGeom>
          <a:solidFill>
            <a:srgbClr val="38D5FF">
              <a:alpha val="60000"/>
            </a:srgbClr>
          </a:solidFill>
          <a:ln>
            <a:noFill/>
          </a:ln>
        </p:spPr>
      </p:sp>
      <p:sp>
        <p:nvSpPr>
          <p:cNvPr id="11" name="arrow"/>
          <p:cNvSpPr/>
          <p:nvPr/>
        </p:nvSpPr>
        <p:spPr>
          <a:xfrm>
            <a:off x="868680" y="1691640"/>
            <a:ext cx="1874520" cy="548640"/>
          </a:xfrm>
          <a:prstGeom prst="rightArrow">
            <a:avLst/>
          </a:prstGeom>
          <a:solidFill>
            <a:srgbClr val="FBBF24"/>
          </a:solidFill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c"/>
            <a:r>
              <a:rPr lang="zh-TW" sz="900" b="1" dirty="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暫定成績</a:t>
            </a:r>
            <a:endParaRPr lang="zh-TW" sz="900">
              <a:latin typeface="Microsoft JhengHei"/>
              <a:ea typeface="Microsoft JhengHei"/>
            </a:endParaRPr>
          </a:p>
        </p:txBody>
      </p:sp>
      <p:sp>
        <p:nvSpPr>
          <p:cNvPr id="12" name="arrow"/>
          <p:cNvSpPr/>
          <p:nvPr/>
        </p:nvSpPr>
        <p:spPr>
          <a:xfrm>
            <a:off x="2999232" y="1691640"/>
            <a:ext cx="1874520" cy="548640"/>
          </a:xfrm>
          <a:prstGeom prst="rightArrow">
            <a:avLst/>
          </a:prstGeom>
          <a:solidFill>
            <a:srgbClr val="A78BFA"/>
          </a:solidFill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c"/>
            <a:r>
              <a:rPr lang="zh-TW" sz="900" b="1" dirty="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重判/覆核</a:t>
            </a:r>
            <a:endParaRPr lang="zh-TW" sz="900">
              <a:latin typeface="Microsoft JhengHei"/>
              <a:ea typeface="Microsoft JhengHei"/>
            </a:endParaRPr>
          </a:p>
        </p:txBody>
      </p:sp>
      <p:sp>
        <p:nvSpPr>
          <p:cNvPr id="13" name="arrow"/>
          <p:cNvSpPr/>
          <p:nvPr/>
        </p:nvSpPr>
        <p:spPr>
          <a:xfrm>
            <a:off x="5129784" y="1691640"/>
            <a:ext cx="1874520" cy="548640"/>
          </a:xfrm>
          <a:prstGeom prst="rightArrow">
            <a:avLst/>
          </a:prstGeom>
          <a:solidFill>
            <a:srgbClr val="38D5FF"/>
          </a:solidFill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c"/>
            <a:r>
              <a:rPr lang="zh-TW" sz="900" b="1" dirty="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管理審核</a:t>
            </a:r>
            <a:endParaRPr lang="zh-TW" sz="900">
              <a:latin typeface="Microsoft JhengHei"/>
              <a:ea typeface="Microsoft JhengHei"/>
            </a:endParaRPr>
          </a:p>
        </p:txBody>
      </p:sp>
      <p:sp>
        <p:nvSpPr>
          <p:cNvPr id="14" name="arrow"/>
          <p:cNvSpPr/>
          <p:nvPr/>
        </p:nvSpPr>
        <p:spPr>
          <a:xfrm>
            <a:off x="7260336" y="1691640"/>
            <a:ext cx="1874520" cy="548640"/>
          </a:xfrm>
          <a:prstGeom prst="rightArrow">
            <a:avLst/>
          </a:prstGeom>
          <a:solidFill>
            <a:srgbClr val="3DDC97"/>
          </a:solidFill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c"/>
            <a:r>
              <a:rPr lang="zh-TW" sz="900" b="1" dirty="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正式公布</a:t>
            </a:r>
            <a:endParaRPr lang="zh-TW" sz="900">
              <a:latin typeface="Microsoft JhengHei"/>
              <a:ea typeface="Microsoft JhengHei"/>
            </a:endParaRPr>
          </a:p>
        </p:txBody>
      </p:sp>
      <p:sp>
        <p:nvSpPr>
          <p:cNvPr id="15" name="arrow"/>
          <p:cNvSpPr/>
          <p:nvPr/>
        </p:nvSpPr>
        <p:spPr>
          <a:xfrm>
            <a:off x="9390888" y="1691640"/>
            <a:ext cx="1874520" cy="548640"/>
          </a:xfrm>
          <a:prstGeom prst="rightArrow">
            <a:avLst/>
          </a:prstGeom>
          <a:solidFill>
            <a:srgbClr val="8FA8C6"/>
          </a:solidFill>
          <a:ln>
            <a:noFill/>
          </a:ln>
        </p:spPr>
        <p:txBody>
          <a:bodyPr wrap="square" lIns="27432" tIns="27432" rIns="27432" bIns="27432" anchor="ctr">
            <a:spAutoFit/>
          </a:bodyPr>
          <a:lstStyle/>
          <a:p>
            <a:pPr algn="c"/>
            <a:r>
              <a:rPr lang="zh-TW" sz="900" b="1" dirty="0">
                <a:solidFill>
                  <a:srgbClr val="0B1220"/>
                </a:solidFill>
                <a:latin typeface="Microsoft JhengHei"/>
                <a:ea typeface="Microsoft JhengHei"/>
                <a:cs typeface="Microsoft JhengHei"/>
              </a:rPr>
              <a:t>封存</a:t>
            </a:r>
            <a:endParaRPr lang="zh-TW" sz="900">
              <a:latin typeface="Microsoft JhengHei"/>
              <a:ea typeface="Microsoft JhengHei"/>
            </a:endParaRPr>
          </a:p>
        </p:txBody>
      </p:sp>
      <p:sp>
        <p:nvSpPr>
          <p:cNvPr id="16" name="card"/>
          <p:cNvSpPr/>
          <p:nvPr/>
        </p:nvSpPr>
        <p:spPr>
          <a:xfrm>
            <a:off x="914400" y="3246120"/>
            <a:ext cx="3246120" cy="141732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7" name="card-accent"/>
          <p:cNvSpPr/>
          <p:nvPr/>
        </p:nvSpPr>
        <p:spPr>
          <a:xfrm>
            <a:off x="914400" y="3246120"/>
            <a:ext cx="73152" cy="1417320"/>
          </a:xfrm>
          <a:prstGeom prst="round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18" name="card-text"/>
          <p:cNvSpPr/>
          <p:nvPr/>
        </p:nvSpPr>
        <p:spPr>
          <a:xfrm>
            <a:off x="1042416" y="3300984"/>
            <a:ext cx="3044952" cy="132588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審核需要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保留提交原始資料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可重跑測資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記錄異常與人工調整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9" name="card"/>
          <p:cNvSpPr/>
          <p:nvPr/>
        </p:nvSpPr>
        <p:spPr>
          <a:xfrm>
            <a:off x="4462272" y="3246120"/>
            <a:ext cx="3246120" cy="141732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20" name="card-accent"/>
          <p:cNvSpPr/>
          <p:nvPr/>
        </p:nvSpPr>
        <p:spPr>
          <a:xfrm>
            <a:off x="4462272" y="3246120"/>
            <a:ext cx="73152" cy="1417320"/>
          </a:xfrm>
          <a:prstGeom prst="roundRect">
            <a:avLst/>
          </a:prstGeom>
          <a:solidFill>
            <a:srgbClr val="3DDC97"/>
          </a:solidFill>
          <a:ln>
            <a:noFill/>
          </a:ln>
        </p:spPr>
      </p:sp>
      <p:sp>
        <p:nvSpPr>
          <p:cNvPr id="21" name="card-text"/>
          <p:cNvSpPr/>
          <p:nvPr/>
        </p:nvSpPr>
        <p:spPr>
          <a:xfrm>
            <a:off x="4590288" y="3300984"/>
            <a:ext cx="3044952" cy="132588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公布需要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個人排行榜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學校排行榜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可匯出 CSV / PDF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22" name="card"/>
          <p:cNvSpPr/>
          <p:nvPr/>
        </p:nvSpPr>
        <p:spPr>
          <a:xfrm>
            <a:off x="8010144" y="3246120"/>
            <a:ext cx="3246120" cy="141732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23" name="card-accent"/>
          <p:cNvSpPr/>
          <p:nvPr/>
        </p:nvSpPr>
        <p:spPr>
          <a:xfrm>
            <a:off x="8010144" y="3246120"/>
            <a:ext cx="73152" cy="141732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24" name="card-text"/>
          <p:cNvSpPr/>
          <p:nvPr/>
        </p:nvSpPr>
        <p:spPr>
          <a:xfrm>
            <a:off x="8138160" y="3300984"/>
            <a:ext cx="3044952" cy="132588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封存需要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歷屆賽事頁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只讀保存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隔年複製設定為新草稿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25" name="text"/>
          <p:cNvSpPr/>
          <p:nvPr/>
        </p:nvSpPr>
        <p:spPr>
          <a:xfrm>
            <a:off x="502920" y="6446520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720" dirty="0">
                <a:solidFill>
                  <a:srgbClr val="6F88A6"/>
                </a:solidFill>
                <a:latin typeface="Microsoft JhengHei"/>
                <a:ea typeface="Microsoft JhengHei"/>
                <a:cs typeface="Microsoft JhengHei"/>
              </a:rPr>
              <a:t>宜蘭縣資訊科技創意實作競賽網站功能說明</a:t>
            </a:r>
            <a:endParaRPr lang="zh-TW" sz="720">
              <a:latin typeface="Microsoft JhengHei"/>
              <a:ea typeface="Microsoft JhengHei"/>
            </a:endParaRPr>
          </a:p>
        </p:txBody>
      </p:sp>
      <p:sp>
        <p:nvSpPr>
          <p:cNvPr id="26" name="text"/>
          <p:cNvSpPr/>
          <p:nvPr/>
        </p:nvSpPr>
        <p:spPr>
          <a:xfrm>
            <a:off x="10515600" y="6446520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lang="zh-TW" sz="780" dirty="0">
                <a:solidFill>
                  <a:srgbClr val="8FA8C6"/>
                </a:solidFill>
                <a:latin typeface="Microsoft JhengHei"/>
                <a:ea typeface="Microsoft JhengHei"/>
                <a:cs typeface="Microsoft JhengHei"/>
              </a:rPr>
              <a:t>22/25</a:t>
            </a:r>
            <a:endParaRPr lang="zh-TW" sz="780">
              <a:latin typeface="Microsoft JhengHei"/>
              <a:ea typeface="Microsoft JhengHe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2"/>
          </a:solidFill>
          <a:ln>
            <a:noFill/>
          </a:ln>
        </p:spPr>
      </p:sp>
      <p:sp>
        <p:nvSpPr>
          <p:cNvPr id="3" name="glow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5" name="orb1"/>
          <p:cNvSpPr/>
          <p:nvPr/>
        </p:nvSpPr>
        <p:spPr>
          <a:xfrm>
            <a:off x="9784080" y="-228600"/>
            <a:ext cx="2103120" cy="2103120"/>
          </a:xfrm>
          <a:prstGeom prst="ellipse">
            <a:avLst/>
          </a:prstGeom>
          <a:solidFill>
            <a:srgbClr val="38D5FF">
              <a:alpha val="16000"/>
            </a:srgbClr>
          </a:solidFill>
          <a:ln>
            <a:noFill/>
          </a:ln>
        </p:spPr>
      </p:sp>
      <p:sp>
        <p:nvSpPr>
          <p:cNvPr id="6" name="orb2"/>
          <p:cNvSpPr/>
          <p:nvPr/>
        </p:nvSpPr>
        <p:spPr>
          <a:xfrm>
            <a:off x="10607040" y="5257800"/>
            <a:ext cx="1280160" cy="1280160"/>
          </a:xfrm>
          <a:prstGeom prst="ellipse">
            <a:avLst/>
          </a:prstGeom>
          <a:solidFill>
            <a:srgbClr val="A78BFA">
              <a:alpha val="18000"/>
            </a:srgbClr>
          </a:solidFill>
          <a:ln>
            <a:noFill/>
          </a:ln>
        </p:spPr>
      </p:sp>
      <p:sp>
        <p:nvSpPr>
          <p:cNvPr id="7" name="text"/>
          <p:cNvSpPr/>
          <p:nvPr/>
        </p:nvSpPr>
        <p:spPr>
          <a:xfrm>
            <a:off x="502920" y="22860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950" b="1" dirty="0">
                <a:solidFill>
                  <a:srgbClr val="38D5FF"/>
                </a:solidFill>
                <a:latin typeface="Microsoft JhengHei"/>
                <a:ea typeface="Microsoft JhengHei"/>
                <a:cs typeface="Microsoft JhengHei"/>
              </a:rPr>
              <a:t>延伸設計｜尚未實作</a:t>
            </a:r>
            <a:endParaRPr lang="zh-TW" sz="950">
              <a:latin typeface="Microsoft JhengHei"/>
              <a:ea typeface="Microsoft JhengHei"/>
            </a:endParaRPr>
          </a:p>
        </p:txBody>
      </p:sp>
      <p:sp>
        <p:nvSpPr>
          <p:cNvPr id="8" name="text"/>
          <p:cNvSpPr/>
          <p:nvPr/>
        </p:nvSpPr>
        <p:spPr>
          <a:xfrm>
            <a:off x="502920" y="466344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230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PK 模式與徽章機制</a:t>
            </a:r>
            <a:endParaRPr lang="zh-TW" sz="2300">
              <a:latin typeface="Microsoft JhengHei"/>
              <a:ea typeface="Microsoft JhengHei"/>
            </a:endParaRPr>
          </a:p>
        </p:txBody>
      </p:sp>
      <p:sp>
        <p:nvSpPr>
          <p:cNvPr id="9" name="text"/>
          <p:cNvSpPr/>
          <p:nvPr/>
        </p:nvSpPr>
        <p:spPr>
          <a:xfrm>
            <a:off x="530352" y="93268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105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用遊戲化提高平日練習率，但要避免只獎勵刷勝場。</a:t>
            </a:r>
            <a:endParaRPr lang="zh-TW" sz="1050">
              <a:latin typeface="Microsoft JhengHei"/>
              <a:ea typeface="Microsoft JhengHei"/>
            </a:endParaRPr>
          </a:p>
        </p:txBody>
      </p:sp>
      <p:sp>
        <p:nvSpPr>
          <p:cNvPr id="10" name="rule"/>
          <p:cNvSpPr/>
          <p:nvPr/>
        </p:nvSpPr>
        <p:spPr>
          <a:xfrm>
            <a:off x="502920" y="1225296"/>
            <a:ext cx="10881360" cy="18288"/>
          </a:xfrm>
          <a:prstGeom prst="rect">
            <a:avLst/>
          </a:prstGeom>
          <a:solidFill>
            <a:srgbClr val="38D5FF">
              <a:alpha val="60000"/>
            </a:srgbClr>
          </a:solidFill>
          <a:ln>
            <a:noFill/>
          </a:ln>
        </p:spPr>
      </p:sp>
      <p:sp>
        <p:nvSpPr>
          <p:cNvPr id="11" name="card"/>
          <p:cNvSpPr/>
          <p:nvPr/>
        </p:nvSpPr>
        <p:spPr>
          <a:xfrm>
            <a:off x="68580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2" name="card-accent"/>
          <p:cNvSpPr/>
          <p:nvPr/>
        </p:nvSpPr>
        <p:spPr>
          <a:xfrm>
            <a:off x="685800" y="1417320"/>
            <a:ext cx="73152" cy="1691640"/>
          </a:xfrm>
          <a:prstGeom prst="round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13" name="card-text"/>
          <p:cNvSpPr/>
          <p:nvPr/>
        </p:nvSpPr>
        <p:spPr>
          <a:xfrm>
            <a:off x="81381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自動配對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選擇 PK 模式後排隊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系統配對程度接近的對手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指定一題或由系統抽題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4" name="card"/>
          <p:cNvSpPr/>
          <p:nvPr/>
        </p:nvSpPr>
        <p:spPr>
          <a:xfrm>
            <a:off x="425196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5" name="card-accent"/>
          <p:cNvSpPr/>
          <p:nvPr/>
        </p:nvSpPr>
        <p:spPr>
          <a:xfrm>
            <a:off x="4251960" y="1417320"/>
            <a:ext cx="73152" cy="1691640"/>
          </a:xfrm>
          <a:prstGeom prst="roundRect">
            <a:avLst/>
          </a:prstGeom>
          <a:solidFill>
            <a:srgbClr val="3DDC97"/>
          </a:solidFill>
          <a:ln>
            <a:noFill/>
          </a:ln>
        </p:spPr>
      </p:sp>
      <p:sp>
        <p:nvSpPr>
          <p:cNvPr id="16" name="card-text"/>
          <p:cNvSpPr/>
          <p:nvPr/>
        </p:nvSpPr>
        <p:spPr>
          <a:xfrm>
            <a:off x="437997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勝敗紀錄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誰先完成且通過即勝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紀錄勝場/敗場/連勝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必要時加入冷卻與反作弊規則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7" name="card"/>
          <p:cNvSpPr/>
          <p:nvPr/>
        </p:nvSpPr>
        <p:spPr>
          <a:xfrm>
            <a:off x="781812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8" name="card-accent"/>
          <p:cNvSpPr/>
          <p:nvPr/>
        </p:nvSpPr>
        <p:spPr>
          <a:xfrm>
            <a:off x="7818120" y="1417320"/>
            <a:ext cx="73152" cy="16916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9" name="card-text"/>
          <p:cNvSpPr/>
          <p:nvPr/>
        </p:nvSpPr>
        <p:spPr>
          <a:xfrm>
            <a:off x="794613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徽章設計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首勝、連勝、逆轉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完成練習、持續登入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幫助弱勢學生也有成就感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20" name="card"/>
          <p:cNvSpPr/>
          <p:nvPr/>
        </p:nvSpPr>
        <p:spPr>
          <a:xfrm>
            <a:off x="960120" y="4892040"/>
            <a:ext cx="10149840" cy="749808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21" name="card-accent"/>
          <p:cNvSpPr/>
          <p:nvPr/>
        </p:nvSpPr>
        <p:spPr>
          <a:xfrm>
            <a:off x="960120" y="4892040"/>
            <a:ext cx="73152" cy="749808"/>
          </a:xfrm>
          <a:prstGeom prst="round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22" name="card-text"/>
          <p:cNvSpPr/>
          <p:nvPr/>
        </p:nvSpPr>
        <p:spPr>
          <a:xfrm>
            <a:off x="1088136" y="4946904"/>
            <a:ext cx="9948672" cy="65836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重點提醒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建議先做非同步 Ghost PK；穩定後再做即時 Live PK，降低即時連線與公平性風險。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23" name="text"/>
          <p:cNvSpPr/>
          <p:nvPr/>
        </p:nvSpPr>
        <p:spPr>
          <a:xfrm>
            <a:off x="502920" y="6446520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720" dirty="0">
                <a:solidFill>
                  <a:srgbClr val="6F88A6"/>
                </a:solidFill>
                <a:latin typeface="Microsoft JhengHei"/>
                <a:ea typeface="Microsoft JhengHei"/>
                <a:cs typeface="Microsoft JhengHei"/>
              </a:rPr>
              <a:t>宜蘭縣資訊科技創意實作競賽網站功能說明</a:t>
            </a:r>
            <a:endParaRPr lang="zh-TW" sz="720">
              <a:latin typeface="Microsoft JhengHei"/>
              <a:ea typeface="Microsoft JhengHei"/>
            </a:endParaRPr>
          </a:p>
        </p:txBody>
      </p:sp>
      <p:sp>
        <p:nvSpPr>
          <p:cNvPr id="24" name="text"/>
          <p:cNvSpPr/>
          <p:nvPr/>
        </p:nvSpPr>
        <p:spPr>
          <a:xfrm>
            <a:off x="10515600" y="6446520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lang="zh-TW" sz="780" dirty="0">
                <a:solidFill>
                  <a:srgbClr val="8FA8C6"/>
                </a:solidFill>
                <a:latin typeface="Microsoft JhengHei"/>
                <a:ea typeface="Microsoft JhengHei"/>
                <a:cs typeface="Microsoft JhengHei"/>
              </a:rPr>
              <a:t>23/25</a:t>
            </a:r>
            <a:endParaRPr lang="zh-TW" sz="780">
              <a:latin typeface="Microsoft JhengHei"/>
              <a:ea typeface="Microsoft JhengHe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2"/>
          </a:solidFill>
          <a:ln>
            <a:noFill/>
          </a:ln>
        </p:spPr>
      </p:sp>
      <p:sp>
        <p:nvSpPr>
          <p:cNvPr id="3" name="glow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5" name="orb1"/>
          <p:cNvSpPr/>
          <p:nvPr/>
        </p:nvSpPr>
        <p:spPr>
          <a:xfrm>
            <a:off x="9784080" y="-228600"/>
            <a:ext cx="2103120" cy="2103120"/>
          </a:xfrm>
          <a:prstGeom prst="ellipse">
            <a:avLst/>
          </a:prstGeom>
          <a:solidFill>
            <a:srgbClr val="38D5FF">
              <a:alpha val="16000"/>
            </a:srgbClr>
          </a:solidFill>
          <a:ln>
            <a:noFill/>
          </a:ln>
        </p:spPr>
      </p:sp>
      <p:sp>
        <p:nvSpPr>
          <p:cNvPr id="6" name="orb2"/>
          <p:cNvSpPr/>
          <p:nvPr/>
        </p:nvSpPr>
        <p:spPr>
          <a:xfrm>
            <a:off x="10607040" y="5257800"/>
            <a:ext cx="1280160" cy="1280160"/>
          </a:xfrm>
          <a:prstGeom prst="ellipse">
            <a:avLst/>
          </a:prstGeom>
          <a:solidFill>
            <a:srgbClr val="A78BFA">
              <a:alpha val="18000"/>
            </a:srgbClr>
          </a:solidFill>
          <a:ln>
            <a:noFill/>
          </a:ln>
        </p:spPr>
      </p:sp>
      <p:sp>
        <p:nvSpPr>
          <p:cNvPr id="7" name="text"/>
          <p:cNvSpPr/>
          <p:nvPr/>
        </p:nvSpPr>
        <p:spPr>
          <a:xfrm>
            <a:off x="502920" y="22860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950" b="1" dirty="0">
                <a:solidFill>
                  <a:srgbClr val="38D5FF"/>
                </a:solidFill>
                <a:latin typeface="Microsoft JhengHei"/>
                <a:ea typeface="Microsoft JhengHei"/>
                <a:cs typeface="Microsoft JhengHei"/>
              </a:rPr>
              <a:t>導入建議</a:t>
            </a:r>
            <a:endParaRPr lang="zh-TW" sz="950">
              <a:latin typeface="Microsoft JhengHei"/>
              <a:ea typeface="Microsoft JhengHei"/>
            </a:endParaRPr>
          </a:p>
        </p:txBody>
      </p:sp>
      <p:sp>
        <p:nvSpPr>
          <p:cNvPr id="8" name="text"/>
          <p:cNvSpPr/>
          <p:nvPr/>
        </p:nvSpPr>
        <p:spPr>
          <a:xfrm>
            <a:off x="502920" y="466344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230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建議導入路線</a:t>
            </a:r>
            <a:endParaRPr lang="zh-TW" sz="2300">
              <a:latin typeface="Microsoft JhengHei"/>
              <a:ea typeface="Microsoft JhengHei"/>
            </a:endParaRPr>
          </a:p>
        </p:txBody>
      </p:sp>
      <p:sp>
        <p:nvSpPr>
          <p:cNvPr id="9" name="text"/>
          <p:cNvSpPr/>
          <p:nvPr/>
        </p:nvSpPr>
        <p:spPr>
          <a:xfrm>
            <a:off x="530352" y="93268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105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先把正式賽可信度打底，再把學校管理與遊戲化做上去。</a:t>
            </a:r>
            <a:endParaRPr lang="zh-TW" sz="1050">
              <a:latin typeface="Microsoft JhengHei"/>
              <a:ea typeface="Microsoft JhengHei"/>
            </a:endParaRPr>
          </a:p>
        </p:txBody>
      </p:sp>
      <p:sp>
        <p:nvSpPr>
          <p:cNvPr id="10" name="rule"/>
          <p:cNvSpPr/>
          <p:nvPr/>
        </p:nvSpPr>
        <p:spPr>
          <a:xfrm>
            <a:off x="502920" y="1225296"/>
            <a:ext cx="10881360" cy="18288"/>
          </a:xfrm>
          <a:prstGeom prst="rect">
            <a:avLst/>
          </a:prstGeom>
          <a:solidFill>
            <a:srgbClr val="38D5FF">
              <a:alpha val="60000"/>
            </a:srgbClr>
          </a:solidFill>
          <a:ln>
            <a:noFill/>
          </a:ln>
        </p:spPr>
      </p:sp>
      <p:sp>
        <p:nvSpPr>
          <p:cNvPr id="11" name="card"/>
          <p:cNvSpPr/>
          <p:nvPr/>
        </p:nvSpPr>
        <p:spPr>
          <a:xfrm>
            <a:off x="594360" y="1444752"/>
            <a:ext cx="2606040" cy="160020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2" name="card-accent"/>
          <p:cNvSpPr/>
          <p:nvPr/>
        </p:nvSpPr>
        <p:spPr>
          <a:xfrm>
            <a:off x="594360" y="1444752"/>
            <a:ext cx="73152" cy="1600200"/>
          </a:xfrm>
          <a:prstGeom prst="round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13" name="card-text"/>
          <p:cNvSpPr/>
          <p:nvPr/>
        </p:nvSpPr>
        <p:spPr>
          <a:xfrm>
            <a:off x="722376" y="1499616"/>
            <a:ext cx="2404872" cy="1508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A｜現況整理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補齊說明文件、操作手冊、題庫格式與後台管理流程。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4" name="card"/>
          <p:cNvSpPr/>
          <p:nvPr/>
        </p:nvSpPr>
        <p:spPr>
          <a:xfrm>
            <a:off x="3401568" y="1444752"/>
            <a:ext cx="2606040" cy="160020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5" name="card-accent"/>
          <p:cNvSpPr/>
          <p:nvPr/>
        </p:nvSpPr>
        <p:spPr>
          <a:xfrm>
            <a:off x="3401568" y="1444752"/>
            <a:ext cx="73152" cy="1600200"/>
          </a:xfrm>
          <a:prstGeom prst="roundRect">
            <a:avLst/>
          </a:prstGeom>
          <a:solidFill>
            <a:srgbClr val="3DDC97"/>
          </a:solidFill>
          <a:ln>
            <a:noFill/>
          </a:ln>
        </p:spPr>
      </p:sp>
      <p:sp>
        <p:nvSpPr>
          <p:cNvPr id="16" name="card-text"/>
          <p:cNvSpPr/>
          <p:nvPr/>
        </p:nvSpPr>
        <p:spPr>
          <a:xfrm>
            <a:off x="3529584" y="1499616"/>
            <a:ext cx="2404872" cy="1508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B｜賽事核心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年度賽事、名單匯入、伺服器評分、計時、排行榜與稽核。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7" name="card"/>
          <p:cNvSpPr/>
          <p:nvPr/>
        </p:nvSpPr>
        <p:spPr>
          <a:xfrm>
            <a:off x="6208776" y="1444752"/>
            <a:ext cx="2606040" cy="160020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8" name="card-accent"/>
          <p:cNvSpPr/>
          <p:nvPr/>
        </p:nvSpPr>
        <p:spPr>
          <a:xfrm>
            <a:off x="6208776" y="1444752"/>
            <a:ext cx="73152" cy="160020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9" name="card-text"/>
          <p:cNvSpPr/>
          <p:nvPr/>
        </p:nvSpPr>
        <p:spPr>
          <a:xfrm>
            <a:off x="6336792" y="1499616"/>
            <a:ext cx="2404872" cy="1508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C｜學校治理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三階層角色、學校管理、校內/校際排行榜與資料篩選。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20" name="card"/>
          <p:cNvSpPr/>
          <p:nvPr/>
        </p:nvSpPr>
        <p:spPr>
          <a:xfrm>
            <a:off x="9015984" y="1444752"/>
            <a:ext cx="2606040" cy="160020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21" name="card-accent"/>
          <p:cNvSpPr/>
          <p:nvPr/>
        </p:nvSpPr>
        <p:spPr>
          <a:xfrm>
            <a:off x="9015984" y="1444752"/>
            <a:ext cx="73152" cy="160020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22" name="card-text"/>
          <p:cNvSpPr/>
          <p:nvPr/>
        </p:nvSpPr>
        <p:spPr>
          <a:xfrm>
            <a:off x="9144000" y="1499616"/>
            <a:ext cx="2404872" cy="1508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D｜活絡練習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徽章、任務、PK 模式與長期練習成就系統。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23" name="card"/>
          <p:cNvSpPr/>
          <p:nvPr/>
        </p:nvSpPr>
        <p:spPr>
          <a:xfrm>
            <a:off x="960120" y="3886200"/>
            <a:ext cx="9966960" cy="132588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24" name="card-accent"/>
          <p:cNvSpPr/>
          <p:nvPr/>
        </p:nvSpPr>
        <p:spPr>
          <a:xfrm>
            <a:off x="960120" y="3886200"/>
            <a:ext cx="73152" cy="1325880"/>
          </a:xfrm>
          <a:prstGeom prst="round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25" name="card-text"/>
          <p:cNvSpPr/>
          <p:nvPr/>
        </p:nvSpPr>
        <p:spPr>
          <a:xfrm>
            <a:off x="1088136" y="3941064"/>
            <a:ext cx="9765792" cy="123444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下一個最務實里程碑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先建立年度賽事實例 + 角色/學校/名單 + 賽事狀態的資料模型；後續競賽模式、儀表板、審核公布與封存都能順利接上。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26" name="text"/>
          <p:cNvSpPr/>
          <p:nvPr/>
        </p:nvSpPr>
        <p:spPr>
          <a:xfrm>
            <a:off x="502920" y="6446520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720" dirty="0">
                <a:solidFill>
                  <a:srgbClr val="6F88A6"/>
                </a:solidFill>
                <a:latin typeface="Microsoft JhengHei"/>
                <a:ea typeface="Microsoft JhengHei"/>
                <a:cs typeface="Microsoft JhengHei"/>
              </a:rPr>
              <a:t>宜蘭縣資訊科技創意實作競賽網站功能說明</a:t>
            </a:r>
            <a:endParaRPr lang="zh-TW" sz="720">
              <a:latin typeface="Microsoft JhengHei"/>
              <a:ea typeface="Microsoft JhengHei"/>
            </a:endParaRPr>
          </a:p>
        </p:txBody>
      </p:sp>
      <p:sp>
        <p:nvSpPr>
          <p:cNvPr id="27" name="text"/>
          <p:cNvSpPr/>
          <p:nvPr/>
        </p:nvSpPr>
        <p:spPr>
          <a:xfrm>
            <a:off x="10515600" y="6446520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lang="zh-TW" sz="780" dirty="0">
                <a:solidFill>
                  <a:srgbClr val="8FA8C6"/>
                </a:solidFill>
                <a:latin typeface="Microsoft JhengHei"/>
                <a:ea typeface="Microsoft JhengHei"/>
                <a:cs typeface="Microsoft JhengHei"/>
              </a:rPr>
              <a:t>24/25</a:t>
            </a:r>
            <a:endParaRPr lang="zh-TW" sz="780">
              <a:latin typeface="Microsoft JhengHei"/>
              <a:ea typeface="Microsoft JhengHe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2"/>
          </a:solidFill>
          <a:ln>
            <a:noFill/>
          </a:ln>
        </p:spPr>
      </p:sp>
      <p:sp>
        <p:nvSpPr>
          <p:cNvPr id="3" name="glow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5" name="orb1"/>
          <p:cNvSpPr/>
          <p:nvPr/>
        </p:nvSpPr>
        <p:spPr>
          <a:xfrm>
            <a:off x="9784080" y="-228600"/>
            <a:ext cx="2103120" cy="2103120"/>
          </a:xfrm>
          <a:prstGeom prst="ellipse">
            <a:avLst/>
          </a:prstGeom>
          <a:solidFill>
            <a:srgbClr val="38D5FF">
              <a:alpha val="16000"/>
            </a:srgbClr>
          </a:solidFill>
          <a:ln>
            <a:noFill/>
          </a:ln>
        </p:spPr>
      </p:sp>
      <p:sp>
        <p:nvSpPr>
          <p:cNvPr id="6" name="orb2"/>
          <p:cNvSpPr/>
          <p:nvPr/>
        </p:nvSpPr>
        <p:spPr>
          <a:xfrm>
            <a:off x="10607040" y="5257800"/>
            <a:ext cx="1280160" cy="1280160"/>
          </a:xfrm>
          <a:prstGeom prst="ellipse">
            <a:avLst/>
          </a:prstGeom>
          <a:solidFill>
            <a:srgbClr val="A78BFA">
              <a:alpha val="18000"/>
            </a:srgbClr>
          </a:solidFill>
          <a:ln>
            <a:noFill/>
          </a:ln>
        </p:spPr>
      </p:sp>
      <p:sp>
        <p:nvSpPr>
          <p:cNvPr id="7" name="text"/>
          <p:cNvSpPr/>
          <p:nvPr/>
        </p:nvSpPr>
        <p:spPr>
          <a:xfrm>
            <a:off x="502920" y="22860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950" b="1" dirty="0">
                <a:solidFill>
                  <a:srgbClr val="38D5FF"/>
                </a:solidFill>
                <a:latin typeface="Microsoft JhengHei"/>
                <a:ea typeface="Microsoft JhengHei"/>
                <a:cs typeface="Microsoft JhengHei"/>
              </a:rPr>
              <a:t>結語</a:t>
            </a:r>
            <a:endParaRPr lang="zh-TW" sz="950">
              <a:latin typeface="Microsoft JhengHei"/>
              <a:ea typeface="Microsoft JhengHei"/>
            </a:endParaRPr>
          </a:p>
        </p:txBody>
      </p:sp>
      <p:sp>
        <p:nvSpPr>
          <p:cNvPr id="8" name="text"/>
          <p:cNvSpPr/>
          <p:nvPr/>
        </p:nvSpPr>
        <p:spPr>
          <a:xfrm>
            <a:off x="502920" y="466344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230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結語：目前已具備平台骨架，下一步是正式賽可信度</a:t>
            </a:r>
            <a:endParaRPr lang="zh-TW" sz="2300">
              <a:latin typeface="Microsoft JhengHei"/>
              <a:ea typeface="Microsoft JhengHei"/>
            </a:endParaRPr>
          </a:p>
        </p:txBody>
      </p:sp>
      <p:sp>
        <p:nvSpPr>
          <p:cNvPr id="9" name="text"/>
          <p:cNvSpPr/>
          <p:nvPr/>
        </p:nvSpPr>
        <p:spPr>
          <a:xfrm>
            <a:off x="530352" y="932688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105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現況功能已能支撐練習與展示；延伸設計可讓網站變成長期賽事平台。</a:t>
            </a:r>
            <a:endParaRPr lang="zh-TW" sz="1050">
              <a:latin typeface="Microsoft JhengHei"/>
              <a:ea typeface="Microsoft JhengHei"/>
            </a:endParaRPr>
          </a:p>
        </p:txBody>
      </p:sp>
      <p:sp>
        <p:nvSpPr>
          <p:cNvPr id="10" name="rule"/>
          <p:cNvSpPr/>
          <p:nvPr/>
        </p:nvSpPr>
        <p:spPr>
          <a:xfrm>
            <a:off x="502920" y="1225296"/>
            <a:ext cx="10881360" cy="18288"/>
          </a:xfrm>
          <a:prstGeom prst="rect">
            <a:avLst/>
          </a:prstGeom>
          <a:solidFill>
            <a:srgbClr val="38D5FF">
              <a:alpha val="60000"/>
            </a:srgbClr>
          </a:solidFill>
          <a:ln>
            <a:noFill/>
          </a:ln>
        </p:spPr>
      </p:sp>
      <p:sp>
        <p:nvSpPr>
          <p:cNvPr id="11" name="card"/>
          <p:cNvSpPr/>
          <p:nvPr/>
        </p:nvSpPr>
        <p:spPr>
          <a:xfrm>
            <a:off x="68580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2" name="card-accent"/>
          <p:cNvSpPr/>
          <p:nvPr/>
        </p:nvSpPr>
        <p:spPr>
          <a:xfrm>
            <a:off x="685800" y="1417320"/>
            <a:ext cx="73152" cy="1691640"/>
          </a:xfrm>
          <a:prstGeom prst="round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13" name="card-text"/>
          <p:cNvSpPr/>
          <p:nvPr/>
        </p:nvSpPr>
        <p:spPr>
          <a:xfrm>
            <a:off x="81381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已完成基礎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題庫、積木編輯、測試、計分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紀錄、排行榜、管理後台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4" name="card"/>
          <p:cNvSpPr/>
          <p:nvPr/>
        </p:nvSpPr>
        <p:spPr>
          <a:xfrm>
            <a:off x="425196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5" name="card-accent"/>
          <p:cNvSpPr/>
          <p:nvPr/>
        </p:nvSpPr>
        <p:spPr>
          <a:xfrm>
            <a:off x="4251960" y="1417320"/>
            <a:ext cx="73152" cy="1691640"/>
          </a:xfrm>
          <a:prstGeom prst="roundRect">
            <a:avLst/>
          </a:prstGeom>
          <a:solidFill>
            <a:srgbClr val="3DDC97"/>
          </a:solidFill>
          <a:ln>
            <a:noFill/>
          </a:ln>
        </p:spPr>
      </p:sp>
      <p:sp>
        <p:nvSpPr>
          <p:cNvPr id="16" name="card-text"/>
          <p:cNvSpPr/>
          <p:nvPr/>
        </p:nvSpPr>
        <p:spPr>
          <a:xfrm>
            <a:off x="437997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應優先補強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賽事流程與名單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伺服器端評分與時間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成績審核與封存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17" name="card"/>
          <p:cNvSpPr/>
          <p:nvPr/>
        </p:nvSpPr>
        <p:spPr>
          <a:xfrm>
            <a:off x="7818120" y="1417320"/>
            <a:ext cx="3291840" cy="1691640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18" name="card-accent"/>
          <p:cNvSpPr/>
          <p:nvPr/>
        </p:nvSpPr>
        <p:spPr>
          <a:xfrm>
            <a:off x="7818120" y="1417320"/>
            <a:ext cx="73152" cy="16916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19" name="card-text"/>
          <p:cNvSpPr/>
          <p:nvPr/>
        </p:nvSpPr>
        <p:spPr>
          <a:xfrm>
            <a:off x="7946136" y="1472184"/>
            <a:ext cx="3090672" cy="16002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可延伸亮點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學校管理與校際排行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即時儀表板</a:t>
            </a:r>
            <a:endParaRPr lang="zh-TW" sz="99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PK 與徽章提高使用率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20" name="card"/>
          <p:cNvSpPr/>
          <p:nvPr/>
        </p:nvSpPr>
        <p:spPr>
          <a:xfrm>
            <a:off x="960120" y="4892040"/>
            <a:ext cx="10149840" cy="749808"/>
          </a:xfrm>
          <a:prstGeom prst="roundRect">
            <a:avLst/>
          </a:prstGeom>
          <a:solidFill>
            <a:srgbClr val="0F2A44"/>
          </a:solidFill>
          <a:ln w="12700">
            <a:solidFill>
              <a:srgbClr val="1E3A5F"/>
            </a:solidFill>
          </a:ln>
        </p:spPr>
      </p:sp>
      <p:sp>
        <p:nvSpPr>
          <p:cNvPr id="21" name="card-accent"/>
          <p:cNvSpPr/>
          <p:nvPr/>
        </p:nvSpPr>
        <p:spPr>
          <a:xfrm>
            <a:off x="960120" y="4892040"/>
            <a:ext cx="73152" cy="749808"/>
          </a:xfrm>
          <a:prstGeom prst="roundRect">
            <a:avLst/>
          </a:prstGeom>
          <a:solidFill>
            <a:srgbClr val="38D5FF"/>
          </a:solidFill>
          <a:ln>
            <a:noFill/>
          </a:ln>
        </p:spPr>
      </p:sp>
      <p:sp>
        <p:nvSpPr>
          <p:cNvPr id="22" name="card-text"/>
          <p:cNvSpPr/>
          <p:nvPr/>
        </p:nvSpPr>
        <p:spPr>
          <a:xfrm>
            <a:off x="1088136" y="4946904"/>
            <a:ext cx="9948672" cy="65836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zh-TW" sz="1380" b="1" dirty="0">
                <a:solidFill>
                  <a:srgbClr val="F8FAFC"/>
                </a:solidFill>
                <a:latin typeface="Microsoft JhengHei"/>
                <a:ea typeface="Microsoft JhengHei"/>
                <a:cs typeface="Microsoft JhengHei"/>
              </a:rPr>
              <a:t>重點提醒</a:t>
            </a:r>
            <a:endParaRPr lang="zh-TW" sz="1380">
              <a:latin typeface="Microsoft JhengHei"/>
              <a:ea typeface="Microsoft JhengHei"/>
            </a:endParaRPr>
          </a:p>
          <a:p>
            <a:pPr algn="l"/>
            <a:r>
              <a:rPr lang="zh-TW" sz="990" dirty="0">
                <a:solidFill>
                  <a:srgbClr val="B8C7D9"/>
                </a:solidFill>
                <a:latin typeface="Microsoft JhengHei"/>
                <a:ea typeface="Microsoft JhengHei"/>
                <a:cs typeface="Microsoft JhengHei"/>
              </a:rPr>
              <a:t>• 建議方向：同一個網站入口、清楚分流練習與競賽；每年建立獨立賽事實例。</a:t>
            </a:r>
            <a:endParaRPr lang="zh-TW" sz="990">
              <a:latin typeface="Microsoft JhengHei"/>
              <a:ea typeface="Microsoft JhengHei"/>
            </a:endParaRPr>
          </a:p>
        </p:txBody>
      </p:sp>
      <p:sp>
        <p:nvSpPr>
          <p:cNvPr id="23" name="text"/>
          <p:cNvSpPr/>
          <p:nvPr/>
        </p:nvSpPr>
        <p:spPr>
          <a:xfrm>
            <a:off x="502920" y="6446520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lang="zh-TW" sz="720" dirty="0">
                <a:solidFill>
                  <a:srgbClr val="6F88A6"/>
                </a:solidFill>
                <a:latin typeface="Microsoft JhengHei"/>
                <a:ea typeface="Microsoft JhengHei"/>
                <a:cs typeface="Microsoft JhengHei"/>
              </a:rPr>
              <a:t>宜蘭縣資訊科技創意實作競賽網站功能說明</a:t>
            </a:r>
            <a:endParaRPr lang="zh-TW" sz="720">
              <a:latin typeface="Microsoft JhengHei"/>
              <a:ea typeface="Microsoft JhengHei"/>
            </a:endParaRPr>
          </a:p>
        </p:txBody>
      </p:sp>
      <p:sp>
        <p:nvSpPr>
          <p:cNvPr id="24" name="text"/>
          <p:cNvSpPr/>
          <p:nvPr/>
        </p:nvSpPr>
        <p:spPr>
          <a:xfrm>
            <a:off x="10515600" y="6446520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lang="zh-TW" sz="780" dirty="0">
                <a:solidFill>
                  <a:srgbClr val="8FA8C6"/>
                </a:solidFill>
                <a:latin typeface="Microsoft JhengHei"/>
                <a:ea typeface="Microsoft JhengHei"/>
                <a:cs typeface="Microsoft JhengHei"/>
              </a:rPr>
              <a:t>25/25</a:t>
            </a:r>
            <a:endParaRPr lang="zh-TW" sz="780">
              <a:latin typeface="Microsoft JhengHei"/>
              <a:ea typeface="Microsoft Jheng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Yilan Tech">
  <a:themeElements>
    <a:clrScheme name="YilanTech">
      <a:dk1>
        <a:srgbClr val="061222"/>
      </a:dk1>
      <a:lt1>
        <a:srgbClr val="F8FAFC"/>
      </a:lt1>
      <a:dk2>
        <a:srgbClr val="0B1F33"/>
      </a:dk2>
      <a:lt2>
        <a:srgbClr val="B8C7D9"/>
      </a:lt2>
      <a:accent1>
        <a:srgbClr val="38D5FF"/>
      </a:accent1>
      <a:accent2>
        <a:srgbClr val="3DDC97"/>
      </a:accent2>
      <a:accent3>
        <a:srgbClr val="FBBF24"/>
      </a:accent3>
      <a:accent4>
        <a:srgbClr val="A78BFA"/>
      </a:accent4>
      <a:accent5>
        <a:srgbClr val="60A5FA"/>
      </a:accent5>
      <a:accent6>
        <a:srgbClr val="FB7185"/>
      </a:accent6>
      <a:hlink>
        <a:srgbClr val="38D5FF"/>
      </a:hlink>
      <a:folHlink>
        <a:srgbClr val="A78BFA"/>
      </a:folHlink>
    </a:clrScheme>
    <a:fontScheme name="YilanFont">
      <a:majorFont>
        <a:latin typeface="Microsoft JhengHei"/>
        <a:ea typeface="Microsoft JhengHei"/>
        <a:cs typeface="Microsoft JhengHei"/>
      </a:majorFont>
      <a:minorFont>
        <a:latin typeface="Microsoft JhengHei"/>
        <a:ea typeface="Microsoft JhengHei"/>
        <a:cs typeface="Microsoft JhengHei"/>
      </a:minorFont>
    </a:fontScheme>
    <a:fmtScheme name="YilanFmt">
      <a:fillStyleLst>
        <a:solidFill>
          <a:schemeClr val="accent1"/>
        </a:solidFill>
      </a:fillStyleLst>
      <a:lnStyleLst>
        <a:ln w="12700"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25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25</vt:i4>
      </vt:variant>
    </vt:vector>
  </HeadingPairs>
  <TitlesOfParts>
    <vt:vector size="25" baseType="lpstr"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宜蘭縣資訊科技創意實作競賽網站功能說明</dc:title>
  <dc:creator>Codex</dc:creator>
  <cp:lastModifiedBy>Codex</cp:lastModifiedBy>
  <dcterms:created xsi:type="dcterms:W3CDTF">2026-06-28T14:16:02Z</dcterms:created>
  <dcterms:modified xsi:type="dcterms:W3CDTF">2026-06-28T14:16:02Z</dcterms:modified>
</cp:coreProperties>
</file>